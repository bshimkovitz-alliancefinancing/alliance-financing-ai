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image" Target="../media/image-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D1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6858000" y="-1371600"/>
            <a:ext cx="4572000" cy="4572000"/>
          </a:xfrm>
          <a:prstGeom prst="ellipse">
            <a:avLst/>
          </a:prstGeom>
          <a:solidFill>
            <a:srgbClr val="C9A84C">
              <a:alpha val="10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7498080" y="2743200"/>
            <a:ext cx="2743200" cy="2743200"/>
          </a:xfrm>
          <a:prstGeom prst="ellipse">
            <a:avLst/>
          </a:prstGeom>
          <a:solidFill>
            <a:srgbClr val="C9A84C">
              <a:alpha val="7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097280"/>
            <a:ext cx="6400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spc="600" kern="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Alliance Financing Group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731520" y="1645920"/>
            <a:ext cx="640080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Referral Partner</a:t>
            </a:r>
            <a:endParaRPr lang="en-US" sz="36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 Overview</a:t>
            </a:r>
            <a:endParaRPr lang="en-US" sz="3600" dirty="0"/>
          </a:p>
        </p:txBody>
      </p:sp>
      <p:sp>
        <p:nvSpPr>
          <p:cNvPr id="6" name="Shape 4"/>
          <p:cNvSpPr/>
          <p:nvPr/>
        </p:nvSpPr>
        <p:spPr>
          <a:xfrm>
            <a:off x="731520" y="3429000"/>
            <a:ext cx="1371600" cy="45720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7" name="Text 5"/>
          <p:cNvSpPr/>
          <p:nvPr/>
        </p:nvSpPr>
        <p:spPr>
          <a:xfrm>
            <a:off x="731520" y="3657600"/>
            <a:ext cx="5486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complete guide to maximizing referral opportunities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731520" y="438912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A70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alliancefinancing.ai/dashboard  |  March 2026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9A84C"/>
          </a:solidFill>
          <a:ln/>
        </p:spPr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D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Dashboard at a Glance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Five pages designed to streamline your referral business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48640" y="1371600"/>
            <a:ext cx="1463040" cy="2194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548640" y="1371600"/>
            <a:ext cx="1463040" cy="45720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7" name="Shape 5"/>
          <p:cNvSpPr/>
          <p:nvPr/>
        </p:nvSpPr>
        <p:spPr>
          <a:xfrm>
            <a:off x="1028700" y="1645920"/>
            <a:ext cx="502920" cy="502920"/>
          </a:xfrm>
          <a:prstGeom prst="ellipse">
            <a:avLst/>
          </a:prstGeom>
          <a:solidFill>
            <a:srgbClr val="FEF3C7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54430" y="1771650"/>
            <a:ext cx="251460" cy="2514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548640" y="233172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Notifications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640080" y="2651760"/>
            <a:ext cx="1280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Activity feed for referrals,</a:t>
            </a:r>
            <a:endParaRPr lang="en-US" sz="8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updates, and alerts</a:t>
            </a:r>
            <a:endParaRPr lang="en-US" sz="850" dirty="0"/>
          </a:p>
        </p:txBody>
      </p:sp>
      <p:sp>
        <p:nvSpPr>
          <p:cNvPr id="11" name="Shape 8"/>
          <p:cNvSpPr/>
          <p:nvPr/>
        </p:nvSpPr>
        <p:spPr>
          <a:xfrm>
            <a:off x="2194560" y="1371600"/>
            <a:ext cx="1463040" cy="2194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2194560" y="1371600"/>
            <a:ext cx="1463040" cy="45720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13" name="Shape 10"/>
          <p:cNvSpPr/>
          <p:nvPr/>
        </p:nvSpPr>
        <p:spPr>
          <a:xfrm>
            <a:off x="2674620" y="1645920"/>
            <a:ext cx="502920" cy="502920"/>
          </a:xfrm>
          <a:prstGeom prst="ellipse">
            <a:avLst/>
          </a:prstGeom>
          <a:solidFill>
            <a:srgbClr val="DBEAF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00350" y="1771650"/>
            <a:ext cx="251460" cy="25146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2194560" y="233172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100" dirty="0"/>
          </a:p>
        </p:txBody>
      </p:sp>
      <p:sp>
        <p:nvSpPr>
          <p:cNvPr id="16" name="Text 12"/>
          <p:cNvSpPr/>
          <p:nvPr/>
        </p:nvSpPr>
        <p:spPr>
          <a:xfrm>
            <a:off x="2286000" y="2651760"/>
            <a:ext cx="1280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Pipeline metrics, deal</a:t>
            </a:r>
            <a:endParaRPr lang="en-US" sz="8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tracking, and commissions</a:t>
            </a:r>
            <a:endParaRPr lang="en-US" sz="850" dirty="0"/>
          </a:p>
        </p:txBody>
      </p:sp>
      <p:sp>
        <p:nvSpPr>
          <p:cNvPr id="17" name="Shape 13"/>
          <p:cNvSpPr/>
          <p:nvPr/>
        </p:nvSpPr>
        <p:spPr>
          <a:xfrm>
            <a:off x="3840480" y="1371600"/>
            <a:ext cx="1463040" cy="2194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3840480" y="1371600"/>
            <a:ext cx="1463040" cy="45720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19" name="Shape 15"/>
          <p:cNvSpPr/>
          <p:nvPr/>
        </p:nvSpPr>
        <p:spPr>
          <a:xfrm>
            <a:off x="4320540" y="1645920"/>
            <a:ext cx="502920" cy="502920"/>
          </a:xfrm>
          <a:prstGeom prst="ellipse">
            <a:avLst/>
          </a:prstGeom>
          <a:solidFill>
            <a:srgbClr val="D1FAE5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pic>
        <p:nvPicPr>
          <p:cNvPr id="20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446270" y="1771650"/>
            <a:ext cx="251460" cy="251460"/>
          </a:xfrm>
          <a:prstGeom prst="rect">
            <a:avLst/>
          </a:prstGeom>
        </p:spPr>
      </p:pic>
      <p:sp>
        <p:nvSpPr>
          <p:cNvPr id="21" name="Text 16"/>
          <p:cNvSpPr/>
          <p:nvPr/>
        </p:nvSpPr>
        <p:spPr>
          <a:xfrm>
            <a:off x="3840480" y="233172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Hub</a:t>
            </a:r>
            <a:endParaRPr lang="en-US" sz="1100" dirty="0"/>
          </a:p>
        </p:txBody>
      </p:sp>
      <p:sp>
        <p:nvSpPr>
          <p:cNvPr id="22" name="Text 17"/>
          <p:cNvSpPr/>
          <p:nvPr/>
        </p:nvSpPr>
        <p:spPr>
          <a:xfrm>
            <a:off x="3931920" y="2651760"/>
            <a:ext cx="1280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applications, share</a:t>
            </a:r>
            <a:endParaRPr lang="en-US" sz="8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 pages and one-pagers</a:t>
            </a:r>
            <a:endParaRPr lang="en-US" sz="850" dirty="0"/>
          </a:p>
        </p:txBody>
      </p:sp>
      <p:sp>
        <p:nvSpPr>
          <p:cNvPr id="23" name="Shape 18"/>
          <p:cNvSpPr/>
          <p:nvPr/>
        </p:nvSpPr>
        <p:spPr>
          <a:xfrm>
            <a:off x="5486400" y="1371600"/>
            <a:ext cx="1463040" cy="2194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5486400" y="1371600"/>
            <a:ext cx="1463040" cy="45720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25" name="Shape 20"/>
          <p:cNvSpPr/>
          <p:nvPr/>
        </p:nvSpPr>
        <p:spPr>
          <a:xfrm>
            <a:off x="5966460" y="1645920"/>
            <a:ext cx="502920" cy="502920"/>
          </a:xfrm>
          <a:prstGeom prst="ellipse">
            <a:avLst/>
          </a:prstGeom>
          <a:solidFill>
            <a:srgbClr val="FEF3C7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pic>
        <p:nvPicPr>
          <p:cNvPr id="26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92190" y="1771650"/>
            <a:ext cx="251460" cy="251460"/>
          </a:xfrm>
          <a:prstGeom prst="rect">
            <a:avLst/>
          </a:prstGeom>
        </p:spPr>
      </p:pic>
      <p:sp>
        <p:nvSpPr>
          <p:cNvPr id="27" name="Text 21"/>
          <p:cNvSpPr/>
          <p:nvPr/>
        </p:nvSpPr>
        <p:spPr>
          <a:xfrm>
            <a:off x="5486400" y="233172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Programs</a:t>
            </a:r>
            <a:endParaRPr lang="en-US" sz="1100" dirty="0"/>
          </a:p>
        </p:txBody>
      </p:sp>
      <p:sp>
        <p:nvSpPr>
          <p:cNvPr id="28" name="Text 22"/>
          <p:cNvSpPr/>
          <p:nvPr/>
        </p:nvSpPr>
        <p:spPr>
          <a:xfrm>
            <a:off x="5577840" y="2651760"/>
            <a:ext cx="1280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outreach leads</a:t>
            </a:r>
            <a:endParaRPr lang="en-US" sz="8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active vendor management</a:t>
            </a:r>
            <a:endParaRPr lang="en-US" sz="850" dirty="0"/>
          </a:p>
        </p:txBody>
      </p:sp>
      <p:sp>
        <p:nvSpPr>
          <p:cNvPr id="29" name="Shape 23"/>
          <p:cNvSpPr/>
          <p:nvPr/>
        </p:nvSpPr>
        <p:spPr>
          <a:xfrm>
            <a:off x="7132320" y="1371600"/>
            <a:ext cx="1463040" cy="219456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30" name="Shape 24"/>
          <p:cNvSpPr/>
          <p:nvPr/>
        </p:nvSpPr>
        <p:spPr>
          <a:xfrm>
            <a:off x="7132320" y="1371600"/>
            <a:ext cx="1463040" cy="45720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31" name="Shape 25"/>
          <p:cNvSpPr/>
          <p:nvPr/>
        </p:nvSpPr>
        <p:spPr>
          <a:xfrm>
            <a:off x="7612380" y="1645920"/>
            <a:ext cx="502920" cy="502920"/>
          </a:xfrm>
          <a:prstGeom prst="ellipse">
            <a:avLst/>
          </a:prstGeom>
          <a:solidFill>
            <a:srgbClr val="EDE9F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pic>
        <p:nvPicPr>
          <p:cNvPr id="32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738110" y="1771650"/>
            <a:ext cx="251460" cy="251460"/>
          </a:xfrm>
          <a:prstGeom prst="rect">
            <a:avLst/>
          </a:prstGeom>
        </p:spPr>
      </p:pic>
      <p:sp>
        <p:nvSpPr>
          <p:cNvPr id="33" name="Text 26"/>
          <p:cNvSpPr/>
          <p:nvPr/>
        </p:nvSpPr>
        <p:spPr>
          <a:xfrm>
            <a:off x="7132320" y="2331720"/>
            <a:ext cx="14630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Help &amp; Resources</a:t>
            </a:r>
            <a:endParaRPr lang="en-US" sz="1100" dirty="0"/>
          </a:p>
        </p:txBody>
      </p:sp>
      <p:sp>
        <p:nvSpPr>
          <p:cNvPr id="34" name="Text 27"/>
          <p:cNvSpPr/>
          <p:nvPr/>
        </p:nvSpPr>
        <p:spPr>
          <a:xfrm>
            <a:off x="7223760" y="2651760"/>
            <a:ext cx="12801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Support contacts, guides,</a:t>
            </a:r>
            <a:endParaRPr lang="en-US" sz="85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reference materials</a:t>
            </a:r>
            <a:endParaRPr lang="en-US" sz="850" dirty="0"/>
          </a:p>
        </p:txBody>
      </p:sp>
      <p:sp>
        <p:nvSpPr>
          <p:cNvPr id="35" name="Shape 28"/>
          <p:cNvSpPr/>
          <p:nvPr/>
        </p:nvSpPr>
        <p:spPr>
          <a:xfrm>
            <a:off x="548640" y="3931920"/>
            <a:ext cx="8046720" cy="640080"/>
          </a:xfrm>
          <a:prstGeom prst="rect">
            <a:avLst/>
          </a:prstGeom>
          <a:solidFill>
            <a:srgbClr val="EFF6FF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6" name="Shape 29"/>
          <p:cNvSpPr/>
          <p:nvPr/>
        </p:nvSpPr>
        <p:spPr>
          <a:xfrm>
            <a:off x="548640" y="3931920"/>
            <a:ext cx="54864" cy="64008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7" name="Text 30"/>
          <p:cNvSpPr/>
          <p:nvPr/>
        </p:nvSpPr>
        <p:spPr>
          <a:xfrm>
            <a:off x="777240" y="3931920"/>
            <a:ext cx="7589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Access your dashboard anytime at alliancefinancing.ai/dashboard using your partner credentials.</a:t>
            </a:r>
            <a:endParaRPr lang="en-US" sz="1100" dirty="0"/>
          </a:p>
        </p:txBody>
      </p:sp>
      <p:sp>
        <p:nvSpPr>
          <p:cNvPr id="38" name="Text 31"/>
          <p:cNvSpPr/>
          <p:nvPr/>
        </p:nvSpPr>
        <p:spPr>
          <a:xfrm>
            <a:off x="8229600" y="475488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70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 / 10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D1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Dashboard Metrics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your performance with real-time statistics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44068" y="1463040"/>
            <a:ext cx="1828800" cy="2011680"/>
          </a:xfrm>
          <a:prstGeom prst="rect">
            <a:avLst/>
          </a:prstGeom>
          <a:solidFill>
            <a:srgbClr val="162D54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44068" y="1463040"/>
            <a:ext cx="1828800" cy="457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6" name="Shape 4"/>
          <p:cNvSpPr/>
          <p:nvPr/>
        </p:nvSpPr>
        <p:spPr>
          <a:xfrm>
            <a:off x="1229868" y="1737360"/>
            <a:ext cx="457200" cy="457200"/>
          </a:xfrm>
          <a:prstGeom prst="ellipse">
            <a:avLst/>
          </a:prstGeom>
          <a:solidFill>
            <a:srgbClr val="0D9488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44168" y="1851660"/>
            <a:ext cx="228600" cy="2286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544068" y="237744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Pipeline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635508" y="2697480"/>
            <a:ext cx="1645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value of all active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referrals in your pipeline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619756" y="1463040"/>
            <a:ext cx="1828800" cy="2011680"/>
          </a:xfrm>
          <a:prstGeom prst="rect">
            <a:avLst/>
          </a:prstGeom>
          <a:solidFill>
            <a:srgbClr val="162D54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2619756" y="1463040"/>
            <a:ext cx="1828800" cy="4572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12" name="Shape 9"/>
          <p:cNvSpPr/>
          <p:nvPr/>
        </p:nvSpPr>
        <p:spPr>
          <a:xfrm>
            <a:off x="3305556" y="1737360"/>
            <a:ext cx="457200" cy="457200"/>
          </a:xfrm>
          <a:prstGeom prst="ellipse">
            <a:avLst/>
          </a:prstGeom>
          <a:solidFill>
            <a:srgbClr val="2563EB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19856" y="1851660"/>
            <a:ext cx="228600" cy="22860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2619756" y="237744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Projected Commissions</a:t>
            </a:r>
            <a:endParaRPr lang="en-US" sz="1100" dirty="0"/>
          </a:p>
        </p:txBody>
      </p:sp>
      <p:sp>
        <p:nvSpPr>
          <p:cNvPr id="15" name="Text 11"/>
          <p:cNvSpPr/>
          <p:nvPr/>
        </p:nvSpPr>
        <p:spPr>
          <a:xfrm>
            <a:off x="2711196" y="2697480"/>
            <a:ext cx="1645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Estimated earnings from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current pipeline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4695444" y="1463040"/>
            <a:ext cx="1828800" cy="2011680"/>
          </a:xfrm>
          <a:prstGeom prst="rect">
            <a:avLst/>
          </a:prstGeom>
          <a:solidFill>
            <a:srgbClr val="162D54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4695444" y="1463040"/>
            <a:ext cx="1828800" cy="4572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18" name="Shape 14"/>
          <p:cNvSpPr/>
          <p:nvPr/>
        </p:nvSpPr>
        <p:spPr>
          <a:xfrm>
            <a:off x="5381244" y="1737360"/>
            <a:ext cx="457200" cy="457200"/>
          </a:xfrm>
          <a:prstGeom prst="ellipse">
            <a:avLst/>
          </a:prstGeom>
          <a:solidFill>
            <a:srgbClr val="22C55E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95544" y="1851660"/>
            <a:ext cx="228600" cy="22860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4695444" y="237744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Funded This Month</a:t>
            </a:r>
            <a:endParaRPr lang="en-US" sz="1100" dirty="0"/>
          </a:p>
        </p:txBody>
      </p:sp>
      <p:sp>
        <p:nvSpPr>
          <p:cNvPr id="21" name="Text 16"/>
          <p:cNvSpPr/>
          <p:nvPr/>
        </p:nvSpPr>
        <p:spPr>
          <a:xfrm>
            <a:off x="4786884" y="2697480"/>
            <a:ext cx="1645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Successfully funded deals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for the current month</a:t>
            </a:r>
            <a:endParaRPr lang="en-US" sz="900" dirty="0"/>
          </a:p>
        </p:txBody>
      </p:sp>
      <p:sp>
        <p:nvSpPr>
          <p:cNvPr id="22" name="Shape 17"/>
          <p:cNvSpPr/>
          <p:nvPr/>
        </p:nvSpPr>
        <p:spPr>
          <a:xfrm>
            <a:off x="6771132" y="1463040"/>
            <a:ext cx="1828800" cy="2011680"/>
          </a:xfrm>
          <a:prstGeom prst="rect">
            <a:avLst/>
          </a:prstGeom>
          <a:solidFill>
            <a:srgbClr val="162D54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6771132" y="1463040"/>
            <a:ext cx="1828800" cy="4572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24" name="Shape 19"/>
          <p:cNvSpPr/>
          <p:nvPr/>
        </p:nvSpPr>
        <p:spPr>
          <a:xfrm>
            <a:off x="7456932" y="1737360"/>
            <a:ext cx="457200" cy="457200"/>
          </a:xfrm>
          <a:prstGeom prst="ellipse">
            <a:avLst/>
          </a:prstGeom>
          <a:solidFill>
            <a:srgbClr val="F59E0B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71232" y="1851660"/>
            <a:ext cx="228600" cy="22860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6771132" y="2377440"/>
            <a:ext cx="18288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Referral Count</a:t>
            </a:r>
            <a:endParaRPr lang="en-US" sz="1100" dirty="0"/>
          </a:p>
        </p:txBody>
      </p:sp>
      <p:sp>
        <p:nvSpPr>
          <p:cNvPr id="27" name="Text 21"/>
          <p:cNvSpPr/>
          <p:nvPr/>
        </p:nvSpPr>
        <p:spPr>
          <a:xfrm>
            <a:off x="6862572" y="2697480"/>
            <a:ext cx="16459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number of referrals</a:t>
            </a:r>
            <a:endParaRPr lang="en-US" sz="900" dirty="0"/>
          </a:p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you've submitted</a:t>
            </a:r>
            <a:endParaRPr lang="en-US" sz="900" dirty="0"/>
          </a:p>
        </p:txBody>
      </p:sp>
      <p:sp>
        <p:nvSpPr>
          <p:cNvPr id="28" name="Shape 22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29" name="Text 23"/>
          <p:cNvSpPr/>
          <p:nvPr/>
        </p:nvSpPr>
        <p:spPr>
          <a:xfrm>
            <a:off x="8229600" y="475488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/ 10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D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1: Refer a Client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From application to funded deal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85800" y="1371600"/>
            <a:ext cx="1371600" cy="2377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1143000" y="1600200"/>
            <a:ext cx="457200" cy="45720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1143000" y="16002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777240" y="219456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Hub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777240" y="2560320"/>
            <a:ext cx="1188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 to Application Hub and choose your sending method</a:t>
            </a:r>
            <a:endParaRPr lang="en-US" sz="9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0260" y="1691640"/>
            <a:ext cx="182880" cy="182880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2286000" y="1371600"/>
            <a:ext cx="1371600" cy="2377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2743200" y="1600200"/>
            <a:ext cx="457200" cy="45720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3" name="Text 10"/>
          <p:cNvSpPr/>
          <p:nvPr/>
        </p:nvSpPr>
        <p:spPr>
          <a:xfrm>
            <a:off x="2743200" y="16002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800" dirty="0"/>
          </a:p>
        </p:txBody>
      </p:sp>
      <p:sp>
        <p:nvSpPr>
          <p:cNvPr id="14" name="Text 11"/>
          <p:cNvSpPr/>
          <p:nvPr/>
        </p:nvSpPr>
        <p:spPr>
          <a:xfrm>
            <a:off x="2377440" y="219456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Application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2377440" y="2560320"/>
            <a:ext cx="1188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via landing page link, one-pager, or direct email</a:t>
            </a:r>
            <a:endParaRPr lang="en-US" sz="900" dirty="0"/>
          </a:p>
        </p:txBody>
      </p:sp>
      <p:pic>
        <p:nvPicPr>
          <p:cNvPr id="16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0460" y="1691640"/>
            <a:ext cx="182880" cy="18288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3886200" y="1371600"/>
            <a:ext cx="1371600" cy="2377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4343400" y="1600200"/>
            <a:ext cx="457200" cy="45720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19" name="Text 15"/>
          <p:cNvSpPr/>
          <p:nvPr/>
        </p:nvSpPr>
        <p:spPr>
          <a:xfrm>
            <a:off x="4343400" y="16002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800" dirty="0"/>
          </a:p>
        </p:txBody>
      </p:sp>
      <p:sp>
        <p:nvSpPr>
          <p:cNvPr id="20" name="Text 16"/>
          <p:cNvSpPr/>
          <p:nvPr/>
        </p:nvSpPr>
        <p:spPr>
          <a:xfrm>
            <a:off x="3977640" y="219456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Applies</a:t>
            </a:r>
            <a:endParaRPr lang="en-US" sz="1100" dirty="0"/>
          </a:p>
        </p:txBody>
      </p:sp>
      <p:sp>
        <p:nvSpPr>
          <p:cNvPr id="21" name="Text 17"/>
          <p:cNvSpPr/>
          <p:nvPr/>
        </p:nvSpPr>
        <p:spPr>
          <a:xfrm>
            <a:off x="3977640" y="2560320"/>
            <a:ext cx="1188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fills out the application — you're notified</a:t>
            </a:r>
            <a:endParaRPr lang="en-US" sz="900" dirty="0"/>
          </a:p>
        </p:txBody>
      </p:sp>
      <p:pic>
        <p:nvPicPr>
          <p:cNvPr id="22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0660" y="1691640"/>
            <a:ext cx="182880" cy="182880"/>
          </a:xfrm>
          <a:prstGeom prst="rect">
            <a:avLst/>
          </a:prstGeom>
        </p:spPr>
      </p:pic>
      <p:sp>
        <p:nvSpPr>
          <p:cNvPr id="23" name="Shape 18"/>
          <p:cNvSpPr/>
          <p:nvPr/>
        </p:nvSpPr>
        <p:spPr>
          <a:xfrm>
            <a:off x="5486400" y="1371600"/>
            <a:ext cx="1371600" cy="2377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4" name="Shape 19"/>
          <p:cNvSpPr/>
          <p:nvPr/>
        </p:nvSpPr>
        <p:spPr>
          <a:xfrm>
            <a:off x="5943600" y="1600200"/>
            <a:ext cx="457200" cy="45720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25" name="Text 20"/>
          <p:cNvSpPr/>
          <p:nvPr/>
        </p:nvSpPr>
        <p:spPr>
          <a:xfrm>
            <a:off x="5943600" y="16002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800" dirty="0"/>
          </a:p>
        </p:txBody>
      </p:sp>
      <p:sp>
        <p:nvSpPr>
          <p:cNvPr id="26" name="Text 21"/>
          <p:cNvSpPr/>
          <p:nvPr/>
        </p:nvSpPr>
        <p:spPr>
          <a:xfrm>
            <a:off x="5577840" y="219456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Progress</a:t>
            </a:r>
            <a:endParaRPr lang="en-US" sz="1100" dirty="0"/>
          </a:p>
        </p:txBody>
      </p:sp>
      <p:sp>
        <p:nvSpPr>
          <p:cNvPr id="27" name="Text 22"/>
          <p:cNvSpPr/>
          <p:nvPr/>
        </p:nvSpPr>
        <p:spPr>
          <a:xfrm>
            <a:off x="5577840" y="2560320"/>
            <a:ext cx="1188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deal status on your Dashboard referral table</a:t>
            </a:r>
            <a:endParaRPr lang="en-US" sz="900" dirty="0"/>
          </a:p>
        </p:txBody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80860" y="1691640"/>
            <a:ext cx="182880" cy="182880"/>
          </a:xfrm>
          <a:prstGeom prst="rect">
            <a:avLst/>
          </a:prstGeom>
        </p:spPr>
      </p:pic>
      <p:sp>
        <p:nvSpPr>
          <p:cNvPr id="29" name="Shape 23"/>
          <p:cNvSpPr/>
          <p:nvPr/>
        </p:nvSpPr>
        <p:spPr>
          <a:xfrm>
            <a:off x="7086600" y="1371600"/>
            <a:ext cx="1371600" cy="23774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30" name="Shape 24"/>
          <p:cNvSpPr/>
          <p:nvPr/>
        </p:nvSpPr>
        <p:spPr>
          <a:xfrm>
            <a:off x="7543800" y="1600200"/>
            <a:ext cx="457200" cy="45720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31" name="Text 25"/>
          <p:cNvSpPr/>
          <p:nvPr/>
        </p:nvSpPr>
        <p:spPr>
          <a:xfrm>
            <a:off x="7543800" y="1600200"/>
            <a:ext cx="457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800" dirty="0"/>
          </a:p>
        </p:txBody>
      </p:sp>
      <p:sp>
        <p:nvSpPr>
          <p:cNvPr id="32" name="Text 26"/>
          <p:cNvSpPr/>
          <p:nvPr/>
        </p:nvSpPr>
        <p:spPr>
          <a:xfrm>
            <a:off x="7178040" y="2194560"/>
            <a:ext cx="1188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D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Deal Funded</a:t>
            </a:r>
            <a:endParaRPr lang="en-US" sz="1100" dirty="0"/>
          </a:p>
        </p:txBody>
      </p:sp>
      <p:sp>
        <p:nvSpPr>
          <p:cNvPr id="33" name="Text 27"/>
          <p:cNvSpPr/>
          <p:nvPr/>
        </p:nvSpPr>
        <p:spPr>
          <a:xfrm>
            <a:off x="7178040" y="2560320"/>
            <a:ext cx="118872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Celebrate! Commission earned when the deal closes</a:t>
            </a:r>
            <a:endParaRPr lang="en-US" sz="900" dirty="0"/>
          </a:p>
        </p:txBody>
      </p:sp>
      <p:sp>
        <p:nvSpPr>
          <p:cNvPr id="34" name="Shape 28"/>
          <p:cNvSpPr/>
          <p:nvPr/>
        </p:nvSpPr>
        <p:spPr>
          <a:xfrm>
            <a:off x="548640" y="4114800"/>
            <a:ext cx="8046720" cy="548640"/>
          </a:xfrm>
          <a:prstGeom prst="rect">
            <a:avLst/>
          </a:prstGeom>
          <a:solidFill>
            <a:srgbClr val="F0FDF4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sp>
        <p:nvSpPr>
          <p:cNvPr id="35" name="Shape 29"/>
          <p:cNvSpPr/>
          <p:nvPr/>
        </p:nvSpPr>
        <p:spPr>
          <a:xfrm>
            <a:off x="548640" y="4114800"/>
            <a:ext cx="54864" cy="54864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36" name="Text 30"/>
          <p:cNvSpPr/>
          <p:nvPr/>
        </p:nvSpPr>
        <p:spPr>
          <a:xfrm>
            <a:off x="777240" y="4114800"/>
            <a:ext cx="758952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referral slug is embedded in all links automatically — you always get credit for your referrals.</a:t>
            </a:r>
            <a:endParaRPr lang="en-US" sz="1100" dirty="0"/>
          </a:p>
        </p:txBody>
      </p:sp>
      <p:sp>
        <p:nvSpPr>
          <p:cNvPr id="37" name="Text 31"/>
          <p:cNvSpPr/>
          <p:nvPr/>
        </p:nvSpPr>
        <p:spPr>
          <a:xfrm>
            <a:off x="8229600" y="475488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70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/ 10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D1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Hub Tools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Everything you need to share opportunities with clients and vendors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40080" y="1371600"/>
            <a:ext cx="3749040" cy="1371600"/>
          </a:xfrm>
          <a:prstGeom prst="rect">
            <a:avLst/>
          </a:prstGeom>
          <a:solidFill>
            <a:srgbClr val="162D54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40080" y="1371600"/>
            <a:ext cx="54864" cy="13716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Shape 4"/>
          <p:cNvSpPr/>
          <p:nvPr/>
        </p:nvSpPr>
        <p:spPr>
          <a:xfrm>
            <a:off x="868680" y="1828800"/>
            <a:ext cx="457200" cy="457200"/>
          </a:xfrm>
          <a:prstGeom prst="ellipse">
            <a:avLst/>
          </a:prstGeom>
          <a:solidFill>
            <a:srgbClr val="2563EB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82980" y="1943100"/>
            <a:ext cx="228600" cy="2286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1463040" y="155448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Landing Page</a:t>
            </a:r>
            <a:endParaRPr lang="en-US" sz="1300" dirty="0"/>
          </a:p>
        </p:txBody>
      </p:sp>
      <p:sp>
        <p:nvSpPr>
          <p:cNvPr id="9" name="Text 6"/>
          <p:cNvSpPr/>
          <p:nvPr/>
        </p:nvSpPr>
        <p:spPr>
          <a:xfrm>
            <a:off x="1463040" y="2011680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Personalized page with your contact info.</a:t>
            </a:r>
            <a:endParaRPr lang="en-US" sz="9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the link and clients apply directly.</a:t>
            </a:r>
            <a:endParaRPr lang="en-US" sz="950" dirty="0"/>
          </a:p>
        </p:txBody>
      </p:sp>
      <p:sp>
        <p:nvSpPr>
          <p:cNvPr id="10" name="Shape 7"/>
          <p:cNvSpPr/>
          <p:nvPr/>
        </p:nvSpPr>
        <p:spPr>
          <a:xfrm>
            <a:off x="4754880" y="1371600"/>
            <a:ext cx="3749040" cy="1371600"/>
          </a:xfrm>
          <a:prstGeom prst="rect">
            <a:avLst/>
          </a:prstGeom>
          <a:solidFill>
            <a:srgbClr val="162D54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1" name="Shape 8"/>
          <p:cNvSpPr/>
          <p:nvPr/>
        </p:nvSpPr>
        <p:spPr>
          <a:xfrm>
            <a:off x="4754880" y="1371600"/>
            <a:ext cx="54864" cy="137160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2" name="Shape 9"/>
          <p:cNvSpPr/>
          <p:nvPr/>
        </p:nvSpPr>
        <p:spPr>
          <a:xfrm>
            <a:off x="4983480" y="1828800"/>
            <a:ext cx="457200" cy="457200"/>
          </a:xfrm>
          <a:prstGeom prst="ellipse">
            <a:avLst/>
          </a:prstGeom>
          <a:solidFill>
            <a:srgbClr val="0D9488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97780" y="1943100"/>
            <a:ext cx="228600" cy="228600"/>
          </a:xfrm>
          <a:prstGeom prst="rect">
            <a:avLst/>
          </a:prstGeom>
        </p:spPr>
      </p:pic>
      <p:sp>
        <p:nvSpPr>
          <p:cNvPr id="14" name="Text 10"/>
          <p:cNvSpPr/>
          <p:nvPr/>
        </p:nvSpPr>
        <p:spPr>
          <a:xfrm>
            <a:off x="5577840" y="155448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MCA One-Pager</a:t>
            </a:r>
            <a:endParaRPr lang="en-US" sz="1300" dirty="0"/>
          </a:p>
        </p:txBody>
      </p:sp>
      <p:sp>
        <p:nvSpPr>
          <p:cNvPr id="15" name="Text 11"/>
          <p:cNvSpPr/>
          <p:nvPr/>
        </p:nvSpPr>
        <p:spPr>
          <a:xfrm>
            <a:off x="5577840" y="2011680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Professional MCA financing overview.</a:t>
            </a:r>
            <a:endParaRPr lang="en-US" sz="9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View, download PDF, or email to prospects.</a:t>
            </a:r>
            <a:endParaRPr lang="en-US" sz="950" dirty="0"/>
          </a:p>
        </p:txBody>
      </p:sp>
      <p:sp>
        <p:nvSpPr>
          <p:cNvPr id="16" name="Shape 12"/>
          <p:cNvSpPr/>
          <p:nvPr/>
        </p:nvSpPr>
        <p:spPr>
          <a:xfrm>
            <a:off x="640080" y="3063240"/>
            <a:ext cx="3749040" cy="1371600"/>
          </a:xfrm>
          <a:prstGeom prst="rect">
            <a:avLst/>
          </a:prstGeom>
          <a:solidFill>
            <a:srgbClr val="162D54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3"/>
          <p:cNvSpPr/>
          <p:nvPr/>
        </p:nvSpPr>
        <p:spPr>
          <a:xfrm>
            <a:off x="640080" y="3063240"/>
            <a:ext cx="54864" cy="1371600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18" name="Shape 14"/>
          <p:cNvSpPr/>
          <p:nvPr/>
        </p:nvSpPr>
        <p:spPr>
          <a:xfrm>
            <a:off x="868680" y="3520440"/>
            <a:ext cx="457200" cy="457200"/>
          </a:xfrm>
          <a:prstGeom prst="ellipse">
            <a:avLst/>
          </a:prstGeom>
          <a:solidFill>
            <a:srgbClr val="C9A84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82980" y="3634740"/>
            <a:ext cx="228600" cy="22860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1463040" y="324612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Leasing</a:t>
            </a:r>
            <a:endParaRPr lang="en-US" sz="1300" dirty="0"/>
          </a:p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One-Pager</a:t>
            </a:r>
            <a:endParaRPr lang="en-US" sz="1300" dirty="0"/>
          </a:p>
        </p:txBody>
      </p:sp>
      <p:sp>
        <p:nvSpPr>
          <p:cNvPr id="21" name="Text 16"/>
          <p:cNvSpPr/>
          <p:nvPr/>
        </p:nvSpPr>
        <p:spPr>
          <a:xfrm>
            <a:off x="1463040" y="3703320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Equipment leasing program overview.</a:t>
            </a:r>
            <a:endParaRPr lang="en-US" sz="9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Inquiries feed into Vendor Outreach.</a:t>
            </a:r>
            <a:endParaRPr lang="en-US" sz="950" dirty="0"/>
          </a:p>
        </p:txBody>
      </p:sp>
      <p:sp>
        <p:nvSpPr>
          <p:cNvPr id="22" name="Shape 17"/>
          <p:cNvSpPr/>
          <p:nvPr/>
        </p:nvSpPr>
        <p:spPr>
          <a:xfrm>
            <a:off x="4754880" y="3063240"/>
            <a:ext cx="3749040" cy="1371600"/>
          </a:xfrm>
          <a:prstGeom prst="rect">
            <a:avLst/>
          </a:prstGeom>
          <a:solidFill>
            <a:srgbClr val="162D54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3" name="Shape 18"/>
          <p:cNvSpPr/>
          <p:nvPr/>
        </p:nvSpPr>
        <p:spPr>
          <a:xfrm>
            <a:off x="4754880" y="3063240"/>
            <a:ext cx="54864" cy="1371600"/>
          </a:xfrm>
          <a:prstGeom prst="rect">
            <a:avLst/>
          </a:prstGeom>
          <a:solidFill>
            <a:srgbClr val="7C3AED"/>
          </a:solidFill>
          <a:ln/>
        </p:spPr>
      </p:sp>
      <p:sp>
        <p:nvSpPr>
          <p:cNvPr id="24" name="Shape 19"/>
          <p:cNvSpPr/>
          <p:nvPr/>
        </p:nvSpPr>
        <p:spPr>
          <a:xfrm>
            <a:off x="4983480" y="3520440"/>
            <a:ext cx="457200" cy="457200"/>
          </a:xfrm>
          <a:prstGeom prst="ellipse">
            <a:avLst/>
          </a:prstGeom>
          <a:solidFill>
            <a:srgbClr val="7C3AED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pic>
        <p:nvPicPr>
          <p:cNvPr id="25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097780" y="3634740"/>
            <a:ext cx="228600" cy="22860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5577840" y="3246120"/>
            <a:ext cx="2743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Application</a:t>
            </a:r>
            <a:endParaRPr lang="en-US" sz="1300" dirty="0"/>
          </a:p>
        </p:txBody>
      </p:sp>
      <p:sp>
        <p:nvSpPr>
          <p:cNvPr id="27" name="Text 21"/>
          <p:cNvSpPr/>
          <p:nvPr/>
        </p:nvSpPr>
        <p:spPr>
          <a:xfrm>
            <a:off x="5577840" y="3703320"/>
            <a:ext cx="2743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application directly to a client</a:t>
            </a:r>
            <a:endParaRPr lang="en-US" sz="950" dirty="0"/>
          </a:p>
          <a:p>
            <a:pPr indent="0" marL="0">
              <a:lnSpc>
                <a:spcPct val="1400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a custom message.</a:t>
            </a:r>
            <a:endParaRPr lang="en-US" sz="950" dirty="0"/>
          </a:p>
        </p:txBody>
      </p:sp>
      <p:sp>
        <p:nvSpPr>
          <p:cNvPr id="28" name="Shape 22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29" name="Text 23"/>
          <p:cNvSpPr/>
          <p:nvPr/>
        </p:nvSpPr>
        <p:spPr>
          <a:xfrm>
            <a:off x="8229600" y="475488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/ 10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D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2: Generate Vendor Leads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Build your vendor network through the leasing program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640080" y="1280160"/>
            <a:ext cx="347472" cy="347472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6" name="Text 4"/>
          <p:cNvSpPr/>
          <p:nvPr/>
        </p:nvSpPr>
        <p:spPr>
          <a:xfrm>
            <a:off x="640080" y="1280160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97280" y="1261872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Application Hub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97280" y="1481328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Find the Vendor Equipment Leasing Program section</a:t>
            </a:r>
            <a:endParaRPr lang="en-US" sz="950" dirty="0"/>
          </a:p>
        </p:txBody>
      </p:sp>
      <p:sp>
        <p:nvSpPr>
          <p:cNvPr id="9" name="Shape 7"/>
          <p:cNvSpPr/>
          <p:nvPr/>
        </p:nvSpPr>
        <p:spPr>
          <a:xfrm>
            <a:off x="813816" y="1664208"/>
            <a:ext cx="0" cy="256032"/>
          </a:xfrm>
          <a:prstGeom prst="line">
            <a:avLst/>
          </a:prstGeom>
          <a:noFill/>
          <a:ln w="19050">
            <a:solidFill>
              <a:srgbClr val="0D9488"/>
            </a:solidFill>
            <a:prstDash val="dash"/>
          </a:ln>
        </p:spPr>
      </p:sp>
      <p:sp>
        <p:nvSpPr>
          <p:cNvPr id="10" name="Shape 8"/>
          <p:cNvSpPr/>
          <p:nvPr/>
        </p:nvSpPr>
        <p:spPr>
          <a:xfrm>
            <a:off x="640080" y="1938528"/>
            <a:ext cx="347472" cy="347472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1" name="Text 9"/>
          <p:cNvSpPr/>
          <p:nvPr/>
        </p:nvSpPr>
        <p:spPr>
          <a:xfrm>
            <a:off x="640080" y="1938528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2" name="Text 10"/>
          <p:cNvSpPr/>
          <p:nvPr/>
        </p:nvSpPr>
        <p:spPr>
          <a:xfrm>
            <a:off x="1097280" y="192024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Share the One-Pager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1097280" y="2139696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View it, download as PDF, or email directly to vendor</a:t>
            </a:r>
            <a:endParaRPr lang="en-US" sz="950" dirty="0"/>
          </a:p>
        </p:txBody>
      </p:sp>
      <p:sp>
        <p:nvSpPr>
          <p:cNvPr id="14" name="Shape 12"/>
          <p:cNvSpPr/>
          <p:nvPr/>
        </p:nvSpPr>
        <p:spPr>
          <a:xfrm>
            <a:off x="813816" y="2322576"/>
            <a:ext cx="0" cy="256032"/>
          </a:xfrm>
          <a:prstGeom prst="line">
            <a:avLst/>
          </a:prstGeom>
          <a:noFill/>
          <a:ln w="19050">
            <a:solidFill>
              <a:srgbClr val="0D9488"/>
            </a:solidFill>
            <a:prstDash val="dash"/>
          </a:ln>
        </p:spPr>
      </p:sp>
      <p:sp>
        <p:nvSpPr>
          <p:cNvPr id="15" name="Shape 13"/>
          <p:cNvSpPr/>
          <p:nvPr/>
        </p:nvSpPr>
        <p:spPr>
          <a:xfrm>
            <a:off x="640080" y="2596896"/>
            <a:ext cx="347472" cy="347472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6" name="Text 14"/>
          <p:cNvSpPr/>
          <p:nvPr/>
        </p:nvSpPr>
        <p:spPr>
          <a:xfrm>
            <a:off x="640080" y="2596896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7" name="Text 15"/>
          <p:cNvSpPr/>
          <p:nvPr/>
        </p:nvSpPr>
        <p:spPr>
          <a:xfrm>
            <a:off x="1097280" y="2578608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Submits Inquiry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1097280" y="2798064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inquiry appears in your Vendor Outreach pipeline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813816" y="2980944"/>
            <a:ext cx="0" cy="256032"/>
          </a:xfrm>
          <a:prstGeom prst="line">
            <a:avLst/>
          </a:prstGeom>
          <a:noFill/>
          <a:ln w="19050">
            <a:solidFill>
              <a:srgbClr val="0D9488"/>
            </a:solidFill>
            <a:prstDash val="dash"/>
          </a:ln>
        </p:spPr>
      </p:sp>
      <p:sp>
        <p:nvSpPr>
          <p:cNvPr id="20" name="Shape 18"/>
          <p:cNvSpPr/>
          <p:nvPr/>
        </p:nvSpPr>
        <p:spPr>
          <a:xfrm>
            <a:off x="640080" y="3255264"/>
            <a:ext cx="347472" cy="347472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3255264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22" name="Text 20"/>
          <p:cNvSpPr/>
          <p:nvPr/>
        </p:nvSpPr>
        <p:spPr>
          <a:xfrm>
            <a:off x="1097280" y="3236976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Reviews &amp; Sets Up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1097280" y="3456432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Admin creates vendor program and sends application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813816" y="3639312"/>
            <a:ext cx="0" cy="256032"/>
          </a:xfrm>
          <a:prstGeom prst="line">
            <a:avLst/>
          </a:prstGeom>
          <a:noFill/>
          <a:ln w="19050">
            <a:solidFill>
              <a:srgbClr val="0D9488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40080" y="3913632"/>
            <a:ext cx="347472" cy="347472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26" name="Text 24"/>
          <p:cNvSpPr/>
          <p:nvPr/>
        </p:nvSpPr>
        <p:spPr>
          <a:xfrm>
            <a:off x="640080" y="3913632"/>
            <a:ext cx="347472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1097280" y="3895344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Approved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1097280" y="4114800"/>
            <a:ext cx="347472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moves to your Active Vendors list</a:t>
            </a:r>
            <a:endParaRPr lang="en-US" sz="950" dirty="0"/>
          </a:p>
        </p:txBody>
      </p:sp>
      <p:sp>
        <p:nvSpPr>
          <p:cNvPr id="29" name="Shape 27"/>
          <p:cNvSpPr/>
          <p:nvPr/>
        </p:nvSpPr>
        <p:spPr>
          <a:xfrm>
            <a:off x="4937760" y="1280160"/>
            <a:ext cx="3657600" cy="329184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30" name="Shape 28"/>
          <p:cNvSpPr/>
          <p:nvPr/>
        </p:nvSpPr>
        <p:spPr>
          <a:xfrm>
            <a:off x="4937760" y="1280160"/>
            <a:ext cx="3657600" cy="4572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31" name="Text 29"/>
          <p:cNvSpPr/>
          <p:nvPr/>
        </p:nvSpPr>
        <p:spPr>
          <a:xfrm>
            <a:off x="5120640" y="1463040"/>
            <a:ext cx="329184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D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Pipeline Flow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5212080" y="1920240"/>
            <a:ext cx="3108960" cy="658368"/>
          </a:xfrm>
          <a:prstGeom prst="rect">
            <a:avLst/>
          </a:prstGeom>
          <a:solidFill>
            <a:srgbClr val="FEF3C7"/>
          </a:solidFill>
          <a:ln/>
        </p:spPr>
      </p:sp>
      <p:sp>
        <p:nvSpPr>
          <p:cNvPr id="33" name="Text 31"/>
          <p:cNvSpPr/>
          <p:nvPr/>
        </p:nvSpPr>
        <p:spPr>
          <a:xfrm>
            <a:off x="5349240" y="196596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Outreach</a:t>
            </a:r>
            <a:endParaRPr lang="en-US" sz="1100" dirty="0"/>
          </a:p>
        </p:txBody>
      </p:sp>
      <p:sp>
        <p:nvSpPr>
          <p:cNvPr id="34" name="Text 32"/>
          <p:cNvSpPr/>
          <p:nvPr/>
        </p:nvSpPr>
        <p:spPr>
          <a:xfrm>
            <a:off x="5349240" y="221284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Inquiry leads from your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leasing one-pager</a:t>
            </a:r>
            <a:endParaRPr lang="en-US" sz="850" dirty="0"/>
          </a:p>
        </p:txBody>
      </p:sp>
      <p:sp>
        <p:nvSpPr>
          <p:cNvPr id="35" name="Shape 33"/>
          <p:cNvSpPr/>
          <p:nvPr/>
        </p:nvSpPr>
        <p:spPr>
          <a:xfrm>
            <a:off x="5212080" y="2743200"/>
            <a:ext cx="3108960" cy="658368"/>
          </a:xfrm>
          <a:prstGeom prst="rect">
            <a:avLst/>
          </a:prstGeom>
          <a:solidFill>
            <a:srgbClr val="D1FAE5"/>
          </a:solidFill>
          <a:ln/>
        </p:spPr>
      </p:sp>
      <p:sp>
        <p:nvSpPr>
          <p:cNvPr id="36" name="Text 34"/>
          <p:cNvSpPr/>
          <p:nvPr/>
        </p:nvSpPr>
        <p:spPr>
          <a:xfrm>
            <a:off x="5349240" y="27889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Vendors</a:t>
            </a:r>
            <a:endParaRPr lang="en-US" sz="1100" dirty="0"/>
          </a:p>
        </p:txBody>
      </p:sp>
      <p:sp>
        <p:nvSpPr>
          <p:cNvPr id="37" name="Text 35"/>
          <p:cNvSpPr/>
          <p:nvPr/>
        </p:nvSpPr>
        <p:spPr>
          <a:xfrm>
            <a:off x="5349240" y="303580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submitted and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approved vendors</a:t>
            </a:r>
            <a:endParaRPr lang="en-US" sz="850" dirty="0"/>
          </a:p>
        </p:txBody>
      </p:sp>
      <p:sp>
        <p:nvSpPr>
          <p:cNvPr id="38" name="Shape 36"/>
          <p:cNvSpPr/>
          <p:nvPr/>
        </p:nvSpPr>
        <p:spPr>
          <a:xfrm>
            <a:off x="5212080" y="3566160"/>
            <a:ext cx="3108960" cy="658368"/>
          </a:xfrm>
          <a:prstGeom prst="rect">
            <a:avLst/>
          </a:prstGeom>
          <a:solidFill>
            <a:srgbClr val="DBEAFE"/>
          </a:solidFill>
          <a:ln/>
        </p:spPr>
      </p:sp>
      <p:sp>
        <p:nvSpPr>
          <p:cNvPr id="39" name="Text 37"/>
          <p:cNvSpPr/>
          <p:nvPr/>
        </p:nvSpPr>
        <p:spPr>
          <a:xfrm>
            <a:off x="5349240" y="361188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D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Partner Vendors</a:t>
            </a:r>
            <a:endParaRPr lang="en-US" sz="1100" dirty="0"/>
          </a:p>
        </p:txBody>
      </p:sp>
      <p:sp>
        <p:nvSpPr>
          <p:cNvPr id="40" name="Text 38"/>
          <p:cNvSpPr/>
          <p:nvPr/>
        </p:nvSpPr>
        <p:spPr>
          <a:xfrm>
            <a:off x="5349240" y="3858768"/>
            <a:ext cx="274320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Network-wide vendor</a:t>
            </a:r>
            <a:endParaRPr lang="en-US" sz="8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85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programs available to you</a:t>
            </a:r>
            <a:endParaRPr lang="en-US" sz="850" dirty="0"/>
          </a:p>
        </p:txBody>
      </p:sp>
      <p:sp>
        <p:nvSpPr>
          <p:cNvPr id="41" name="Text 39"/>
          <p:cNvSpPr/>
          <p:nvPr/>
        </p:nvSpPr>
        <p:spPr>
          <a:xfrm>
            <a:off x="8229600" y="475488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70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 / 10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D1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Workflow 3: Submit a Vendor Directly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Skip outreach — add vendors to the Alliance network yourself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685800" y="1371600"/>
            <a:ext cx="1371600" cy="2103120"/>
          </a:xfrm>
          <a:prstGeom prst="rect">
            <a:avLst/>
          </a:prstGeom>
          <a:solidFill>
            <a:srgbClr val="162D54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685800" y="1371600"/>
            <a:ext cx="1371600" cy="36576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6" name="Shape 4"/>
          <p:cNvSpPr/>
          <p:nvPr/>
        </p:nvSpPr>
        <p:spPr>
          <a:xfrm>
            <a:off x="1165860" y="1554480"/>
            <a:ext cx="411480" cy="411480"/>
          </a:xfrm>
          <a:prstGeom prst="ellipse">
            <a:avLst/>
          </a:prstGeom>
          <a:solidFill>
            <a:srgbClr val="C9A84C"/>
          </a:solidFill>
          <a:ln/>
        </p:spPr>
      </p:sp>
      <p:sp>
        <p:nvSpPr>
          <p:cNvPr id="7" name="Text 5"/>
          <p:cNvSpPr/>
          <p:nvPr/>
        </p:nvSpPr>
        <p:spPr>
          <a:xfrm>
            <a:off x="1165860" y="155448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58952" y="2103120"/>
            <a:ext cx="122529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Navigate to</a:t>
            </a:r>
            <a:endParaRPr lang="en-US" sz="10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Programs</a:t>
            </a:r>
            <a:endParaRPr lang="en-US" sz="1050" dirty="0"/>
          </a:p>
        </p:txBody>
      </p:sp>
      <p:sp>
        <p:nvSpPr>
          <p:cNvPr id="9" name="Text 7"/>
          <p:cNvSpPr/>
          <p:nvPr/>
        </p:nvSpPr>
        <p:spPr>
          <a:xfrm>
            <a:off x="758952" y="274320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 the page</a:t>
            </a:r>
            <a:endParaRPr lang="en-US" sz="900" dirty="0"/>
          </a:p>
        </p:txBody>
      </p:sp>
      <p:pic>
        <p:nvPicPr>
          <p:cNvPr id="1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89404" y="1645920"/>
            <a:ext cx="164592" cy="164592"/>
          </a:xfrm>
          <a:prstGeom prst="rect">
            <a:avLst/>
          </a:prstGeom>
        </p:spPr>
      </p:pic>
      <p:sp>
        <p:nvSpPr>
          <p:cNvPr id="11" name="Shape 8"/>
          <p:cNvSpPr/>
          <p:nvPr/>
        </p:nvSpPr>
        <p:spPr>
          <a:xfrm>
            <a:off x="2286000" y="1371600"/>
            <a:ext cx="1371600" cy="2103120"/>
          </a:xfrm>
          <a:prstGeom prst="rect">
            <a:avLst/>
          </a:prstGeom>
          <a:solidFill>
            <a:srgbClr val="162D54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9"/>
          <p:cNvSpPr/>
          <p:nvPr/>
        </p:nvSpPr>
        <p:spPr>
          <a:xfrm>
            <a:off x="2286000" y="1371600"/>
            <a:ext cx="1371600" cy="36576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13" name="Shape 10"/>
          <p:cNvSpPr/>
          <p:nvPr/>
        </p:nvSpPr>
        <p:spPr>
          <a:xfrm>
            <a:off x="2766060" y="1554480"/>
            <a:ext cx="411480" cy="411480"/>
          </a:xfrm>
          <a:prstGeom prst="ellipse">
            <a:avLst/>
          </a:prstGeom>
          <a:solidFill>
            <a:srgbClr val="C9A84C"/>
          </a:solidFill>
          <a:ln/>
        </p:spPr>
      </p:sp>
      <p:sp>
        <p:nvSpPr>
          <p:cNvPr id="14" name="Text 11"/>
          <p:cNvSpPr/>
          <p:nvPr/>
        </p:nvSpPr>
        <p:spPr>
          <a:xfrm>
            <a:off x="2766060" y="155448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2"/>
          <p:cNvSpPr/>
          <p:nvPr/>
        </p:nvSpPr>
        <p:spPr>
          <a:xfrm>
            <a:off x="2359152" y="2103120"/>
            <a:ext cx="122529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</a:t>
            </a:r>
            <a:endParaRPr lang="en-US" sz="10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'+ Submit Vendor'</a:t>
            </a:r>
            <a:endParaRPr lang="en-US" sz="1050" dirty="0"/>
          </a:p>
        </p:txBody>
      </p:sp>
      <p:sp>
        <p:nvSpPr>
          <p:cNvPr id="16" name="Text 13"/>
          <p:cNvSpPr/>
          <p:nvPr/>
        </p:nvSpPr>
        <p:spPr>
          <a:xfrm>
            <a:off x="2359152" y="274320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Opens the form</a:t>
            </a:r>
            <a:endParaRPr lang="en-US" sz="900" dirty="0"/>
          </a:p>
        </p:txBody>
      </p:sp>
      <p:pic>
        <p:nvPicPr>
          <p:cNvPr id="17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89604" y="1645920"/>
            <a:ext cx="164592" cy="164592"/>
          </a:xfrm>
          <a:prstGeom prst="rect">
            <a:avLst/>
          </a:prstGeom>
        </p:spPr>
      </p:pic>
      <p:sp>
        <p:nvSpPr>
          <p:cNvPr id="18" name="Shape 14"/>
          <p:cNvSpPr/>
          <p:nvPr/>
        </p:nvSpPr>
        <p:spPr>
          <a:xfrm>
            <a:off x="3886200" y="1371600"/>
            <a:ext cx="1371600" cy="2103120"/>
          </a:xfrm>
          <a:prstGeom prst="rect">
            <a:avLst/>
          </a:prstGeom>
          <a:solidFill>
            <a:srgbClr val="162D54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9" name="Shape 15"/>
          <p:cNvSpPr/>
          <p:nvPr/>
        </p:nvSpPr>
        <p:spPr>
          <a:xfrm>
            <a:off x="3886200" y="1371600"/>
            <a:ext cx="1371600" cy="36576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20" name="Shape 16"/>
          <p:cNvSpPr/>
          <p:nvPr/>
        </p:nvSpPr>
        <p:spPr>
          <a:xfrm>
            <a:off x="4366260" y="1554480"/>
            <a:ext cx="411480" cy="411480"/>
          </a:xfrm>
          <a:prstGeom prst="ellipse">
            <a:avLst/>
          </a:prstGeom>
          <a:solidFill>
            <a:srgbClr val="C9A84C"/>
          </a:solidFill>
          <a:ln/>
        </p:spPr>
      </p:sp>
      <p:sp>
        <p:nvSpPr>
          <p:cNvPr id="21" name="Text 17"/>
          <p:cNvSpPr/>
          <p:nvPr/>
        </p:nvSpPr>
        <p:spPr>
          <a:xfrm>
            <a:off x="4366260" y="155448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600" dirty="0"/>
          </a:p>
        </p:txBody>
      </p:sp>
      <p:sp>
        <p:nvSpPr>
          <p:cNvPr id="22" name="Text 18"/>
          <p:cNvSpPr/>
          <p:nvPr/>
        </p:nvSpPr>
        <p:spPr>
          <a:xfrm>
            <a:off x="3959352" y="2103120"/>
            <a:ext cx="122529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Fill In</a:t>
            </a:r>
            <a:endParaRPr lang="en-US" sz="10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Details</a:t>
            </a:r>
            <a:endParaRPr lang="en-US" sz="1050" dirty="0"/>
          </a:p>
        </p:txBody>
      </p:sp>
      <p:sp>
        <p:nvSpPr>
          <p:cNvPr id="23" name="Text 19"/>
          <p:cNvSpPr/>
          <p:nvPr/>
        </p:nvSpPr>
        <p:spPr>
          <a:xfrm>
            <a:off x="3959352" y="274320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Name, product, contact</a:t>
            </a:r>
            <a:endParaRPr lang="en-US" sz="900" dirty="0"/>
          </a:p>
        </p:txBody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89804" y="1645920"/>
            <a:ext cx="164592" cy="164592"/>
          </a:xfrm>
          <a:prstGeom prst="rect">
            <a:avLst/>
          </a:prstGeom>
        </p:spPr>
      </p:pic>
      <p:sp>
        <p:nvSpPr>
          <p:cNvPr id="25" name="Shape 20"/>
          <p:cNvSpPr/>
          <p:nvPr/>
        </p:nvSpPr>
        <p:spPr>
          <a:xfrm>
            <a:off x="5486400" y="1371600"/>
            <a:ext cx="1371600" cy="2103120"/>
          </a:xfrm>
          <a:prstGeom prst="rect">
            <a:avLst/>
          </a:prstGeom>
          <a:solidFill>
            <a:srgbClr val="162D54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1"/>
          <p:cNvSpPr/>
          <p:nvPr/>
        </p:nvSpPr>
        <p:spPr>
          <a:xfrm>
            <a:off x="5486400" y="1371600"/>
            <a:ext cx="1371600" cy="36576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27" name="Shape 22"/>
          <p:cNvSpPr/>
          <p:nvPr/>
        </p:nvSpPr>
        <p:spPr>
          <a:xfrm>
            <a:off x="5966460" y="1554480"/>
            <a:ext cx="411480" cy="411480"/>
          </a:xfrm>
          <a:prstGeom prst="ellipse">
            <a:avLst/>
          </a:prstGeom>
          <a:solidFill>
            <a:srgbClr val="C9A84C"/>
          </a:solidFill>
          <a:ln/>
        </p:spPr>
      </p:sp>
      <p:sp>
        <p:nvSpPr>
          <p:cNvPr id="28" name="Text 23"/>
          <p:cNvSpPr/>
          <p:nvPr/>
        </p:nvSpPr>
        <p:spPr>
          <a:xfrm>
            <a:off x="5966460" y="155448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600" dirty="0"/>
          </a:p>
        </p:txBody>
      </p:sp>
      <p:sp>
        <p:nvSpPr>
          <p:cNvPr id="29" name="Text 24"/>
          <p:cNvSpPr/>
          <p:nvPr/>
        </p:nvSpPr>
        <p:spPr>
          <a:xfrm>
            <a:off x="5559552" y="2103120"/>
            <a:ext cx="122529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Send Application</a:t>
            </a:r>
            <a:endParaRPr lang="en-US" sz="10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(Optional)</a:t>
            </a:r>
            <a:endParaRPr lang="en-US" sz="1050" dirty="0"/>
          </a:p>
        </p:txBody>
      </p:sp>
      <p:sp>
        <p:nvSpPr>
          <p:cNvPr id="30" name="Text 25"/>
          <p:cNvSpPr/>
          <p:nvPr/>
        </p:nvSpPr>
        <p:spPr>
          <a:xfrm>
            <a:off x="5559552" y="274320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 form to vendor</a:t>
            </a:r>
            <a:endParaRPr lang="en-US" sz="900" dirty="0"/>
          </a:p>
        </p:txBody>
      </p:sp>
      <p:pic>
        <p:nvPicPr>
          <p:cNvPr id="3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90004" y="1645920"/>
            <a:ext cx="164592" cy="164592"/>
          </a:xfrm>
          <a:prstGeom prst="rect">
            <a:avLst/>
          </a:prstGeom>
        </p:spPr>
      </p:pic>
      <p:sp>
        <p:nvSpPr>
          <p:cNvPr id="32" name="Shape 26"/>
          <p:cNvSpPr/>
          <p:nvPr/>
        </p:nvSpPr>
        <p:spPr>
          <a:xfrm>
            <a:off x="7086600" y="1371600"/>
            <a:ext cx="1371600" cy="2103120"/>
          </a:xfrm>
          <a:prstGeom prst="rect">
            <a:avLst/>
          </a:prstGeom>
          <a:solidFill>
            <a:srgbClr val="162D54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33" name="Shape 27"/>
          <p:cNvSpPr/>
          <p:nvPr/>
        </p:nvSpPr>
        <p:spPr>
          <a:xfrm>
            <a:off x="7086600" y="1371600"/>
            <a:ext cx="1371600" cy="36576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34" name="Shape 28"/>
          <p:cNvSpPr/>
          <p:nvPr/>
        </p:nvSpPr>
        <p:spPr>
          <a:xfrm>
            <a:off x="7566660" y="1554480"/>
            <a:ext cx="411480" cy="411480"/>
          </a:xfrm>
          <a:prstGeom prst="ellipse">
            <a:avLst/>
          </a:prstGeom>
          <a:solidFill>
            <a:srgbClr val="C9A84C"/>
          </a:solidFill>
          <a:ln/>
        </p:spPr>
      </p:sp>
      <p:sp>
        <p:nvSpPr>
          <p:cNvPr id="35" name="Text 29"/>
          <p:cNvSpPr/>
          <p:nvPr/>
        </p:nvSpPr>
        <p:spPr>
          <a:xfrm>
            <a:off x="7566660" y="1554480"/>
            <a:ext cx="4114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0D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600" dirty="0"/>
          </a:p>
        </p:txBody>
      </p:sp>
      <p:sp>
        <p:nvSpPr>
          <p:cNvPr id="36" name="Text 30"/>
          <p:cNvSpPr/>
          <p:nvPr/>
        </p:nvSpPr>
        <p:spPr>
          <a:xfrm>
            <a:off x="7159752" y="2103120"/>
            <a:ext cx="1225296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Track in</a:t>
            </a:r>
            <a:endParaRPr lang="en-US" sz="1050" dirty="0"/>
          </a:p>
          <a:p>
            <a:pPr algn="ctr" indent="0" marL="0">
              <a:lnSpc>
                <a:spcPct val="120000"/>
              </a:lnSpc>
              <a:buNone/>
            </a:pPr>
            <a:r>
              <a:rPr lang="en-US" sz="10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Active Vendors</a:t>
            </a:r>
            <a:endParaRPr lang="en-US" sz="1050" dirty="0"/>
          </a:p>
        </p:txBody>
      </p:sp>
      <p:sp>
        <p:nvSpPr>
          <p:cNvPr id="37" name="Text 31"/>
          <p:cNvSpPr/>
          <p:nvPr/>
        </p:nvSpPr>
        <p:spPr>
          <a:xfrm>
            <a:off x="7159752" y="2743200"/>
            <a:ext cx="1225296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Monitor status</a:t>
            </a:r>
            <a:endParaRPr lang="en-US" sz="900" dirty="0"/>
          </a:p>
        </p:txBody>
      </p:sp>
      <p:sp>
        <p:nvSpPr>
          <p:cNvPr id="38" name="Shape 32"/>
          <p:cNvSpPr/>
          <p:nvPr/>
        </p:nvSpPr>
        <p:spPr>
          <a:xfrm>
            <a:off x="548640" y="3840480"/>
            <a:ext cx="8046720" cy="640080"/>
          </a:xfrm>
          <a:prstGeom prst="rect">
            <a:avLst/>
          </a:prstGeom>
          <a:solidFill>
            <a:srgbClr val="1A3350"/>
          </a:solidFill>
          <a:ln/>
        </p:spPr>
      </p:sp>
      <p:sp>
        <p:nvSpPr>
          <p:cNvPr id="39" name="Shape 33"/>
          <p:cNvSpPr/>
          <p:nvPr/>
        </p:nvSpPr>
        <p:spPr>
          <a:xfrm>
            <a:off x="548640" y="3840480"/>
            <a:ext cx="54864" cy="640080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40" name="Text 34"/>
          <p:cNvSpPr/>
          <p:nvPr/>
        </p:nvSpPr>
        <p:spPr>
          <a:xfrm>
            <a:off x="777240" y="3840480"/>
            <a:ext cx="7589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vendors start with 'Requires Approval' status. Admin reviews and approves before they become active in the network.</a:t>
            </a:r>
            <a:endParaRPr lang="en-US" sz="1100" dirty="0"/>
          </a:p>
        </p:txBody>
      </p:sp>
      <p:sp>
        <p:nvSpPr>
          <p:cNvPr id="41" name="Shape 35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42" name="Text 36"/>
          <p:cNvSpPr/>
          <p:nvPr/>
        </p:nvSpPr>
        <p:spPr>
          <a:xfrm>
            <a:off x="8229600" y="475488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 / 10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4864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3" name="Text 1"/>
          <p:cNvSpPr/>
          <p:nvPr/>
        </p:nvSpPr>
        <p:spPr>
          <a:xfrm>
            <a:off x="548640" y="274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0D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Staying Informed: Notifications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Real-time updates on all your referral and vendor activity</a:t>
            </a:r>
            <a:endParaRPr lang="en-US" sz="1300" dirty="0"/>
          </a:p>
        </p:txBody>
      </p:sp>
      <p:sp>
        <p:nvSpPr>
          <p:cNvPr id="5" name="Shape 3"/>
          <p:cNvSpPr/>
          <p:nvPr/>
        </p:nvSpPr>
        <p:spPr>
          <a:xfrm>
            <a:off x="594360" y="1280160"/>
            <a:ext cx="2468880" cy="1143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Shape 4"/>
          <p:cNvSpPr/>
          <p:nvPr/>
        </p:nvSpPr>
        <p:spPr>
          <a:xfrm>
            <a:off x="777240" y="1554480"/>
            <a:ext cx="228600" cy="228600"/>
          </a:xfrm>
          <a:prstGeom prst="ellipse">
            <a:avLst/>
          </a:prstGeom>
          <a:solidFill>
            <a:srgbClr val="2563EB"/>
          </a:solidFill>
          <a:ln/>
        </p:spPr>
      </p:sp>
      <p:sp>
        <p:nvSpPr>
          <p:cNvPr id="7" name="Text 5"/>
          <p:cNvSpPr/>
          <p:nvPr/>
        </p:nvSpPr>
        <p:spPr>
          <a:xfrm>
            <a:off x="1097280" y="1463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Referral</a:t>
            </a:r>
            <a:endParaRPr lang="en-US" sz="1200" dirty="0"/>
          </a:p>
        </p:txBody>
      </p:sp>
      <p:sp>
        <p:nvSpPr>
          <p:cNvPr id="8" name="Text 6"/>
          <p:cNvSpPr/>
          <p:nvPr/>
        </p:nvSpPr>
        <p:spPr>
          <a:xfrm>
            <a:off x="1097280" y="178308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client applies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through your link</a:t>
            </a:r>
            <a:endParaRPr lang="en-US" sz="900" dirty="0"/>
          </a:p>
        </p:txBody>
      </p:sp>
      <p:sp>
        <p:nvSpPr>
          <p:cNvPr id="9" name="Shape 7"/>
          <p:cNvSpPr/>
          <p:nvPr/>
        </p:nvSpPr>
        <p:spPr>
          <a:xfrm>
            <a:off x="3337560" y="1280160"/>
            <a:ext cx="2468880" cy="1143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Shape 8"/>
          <p:cNvSpPr/>
          <p:nvPr/>
        </p:nvSpPr>
        <p:spPr>
          <a:xfrm>
            <a:off x="3520440" y="1554480"/>
            <a:ext cx="228600" cy="228600"/>
          </a:xfrm>
          <a:prstGeom prst="ellipse">
            <a:avLst/>
          </a:prstGeom>
          <a:solidFill>
            <a:srgbClr val="0D9488"/>
          </a:solidFill>
          <a:ln/>
        </p:spPr>
      </p:sp>
      <p:sp>
        <p:nvSpPr>
          <p:cNvPr id="11" name="Text 9"/>
          <p:cNvSpPr/>
          <p:nvPr/>
        </p:nvSpPr>
        <p:spPr>
          <a:xfrm>
            <a:off x="3840480" y="1463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Status Update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3840480" y="178308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deal moves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a new stage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6080760" y="1280160"/>
            <a:ext cx="2468880" cy="1143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Shape 12"/>
          <p:cNvSpPr/>
          <p:nvPr/>
        </p:nvSpPr>
        <p:spPr>
          <a:xfrm>
            <a:off x="6263640" y="1554480"/>
            <a:ext cx="228600" cy="228600"/>
          </a:xfrm>
          <a:prstGeom prst="ellipse">
            <a:avLst/>
          </a:prstGeom>
          <a:solidFill>
            <a:srgbClr val="22C55E"/>
          </a:solidFill>
          <a:ln/>
        </p:spPr>
      </p:sp>
      <p:sp>
        <p:nvSpPr>
          <p:cNvPr id="15" name="Text 13"/>
          <p:cNvSpPr/>
          <p:nvPr/>
        </p:nvSpPr>
        <p:spPr>
          <a:xfrm>
            <a:off x="6583680" y="1463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Deal Funded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6583680" y="178308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referred deal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successfully funds</a:t>
            </a:r>
            <a:endParaRPr lang="en-US" sz="900" dirty="0"/>
          </a:p>
        </p:txBody>
      </p:sp>
      <p:sp>
        <p:nvSpPr>
          <p:cNvPr id="17" name="Shape 15"/>
          <p:cNvSpPr/>
          <p:nvPr/>
        </p:nvSpPr>
        <p:spPr>
          <a:xfrm>
            <a:off x="594360" y="2697480"/>
            <a:ext cx="2468880" cy="1143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6"/>
          <p:cNvSpPr/>
          <p:nvPr/>
        </p:nvSpPr>
        <p:spPr>
          <a:xfrm>
            <a:off x="777240" y="2971800"/>
            <a:ext cx="228600" cy="228600"/>
          </a:xfrm>
          <a:prstGeom prst="ellipse">
            <a:avLst/>
          </a:prstGeom>
          <a:solidFill>
            <a:srgbClr val="F59E0B"/>
          </a:solidFill>
          <a:ln/>
        </p:spPr>
      </p:sp>
      <p:sp>
        <p:nvSpPr>
          <p:cNvPr id="19" name="Text 17"/>
          <p:cNvSpPr/>
          <p:nvPr/>
        </p:nvSpPr>
        <p:spPr>
          <a:xfrm>
            <a:off x="1097280" y="28803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Inquiry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1097280" y="32004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vendor responds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 your leasing program</a:t>
            </a:r>
            <a:endParaRPr lang="en-US" sz="900" dirty="0"/>
          </a:p>
        </p:txBody>
      </p:sp>
      <p:sp>
        <p:nvSpPr>
          <p:cNvPr id="21" name="Shape 19"/>
          <p:cNvSpPr/>
          <p:nvPr/>
        </p:nvSpPr>
        <p:spPr>
          <a:xfrm>
            <a:off x="3337560" y="2697480"/>
            <a:ext cx="2468880" cy="1143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2" name="Shape 20"/>
          <p:cNvSpPr/>
          <p:nvPr/>
        </p:nvSpPr>
        <p:spPr>
          <a:xfrm>
            <a:off x="3520440" y="2971800"/>
            <a:ext cx="228600" cy="228600"/>
          </a:xfrm>
          <a:prstGeom prst="ellipse">
            <a:avLst/>
          </a:prstGeom>
          <a:solidFill>
            <a:srgbClr val="7C3AED"/>
          </a:solidFill>
          <a:ln/>
        </p:spPr>
      </p:sp>
      <p:sp>
        <p:nvSpPr>
          <p:cNvPr id="23" name="Text 21"/>
          <p:cNvSpPr/>
          <p:nvPr/>
        </p:nvSpPr>
        <p:spPr>
          <a:xfrm>
            <a:off x="3840480" y="28803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Vendor App Done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3840480" y="32004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a vendor returns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their application</a:t>
            </a:r>
            <a:endParaRPr lang="en-US" sz="900" dirty="0"/>
          </a:p>
        </p:txBody>
      </p:sp>
      <p:sp>
        <p:nvSpPr>
          <p:cNvPr id="25" name="Shape 23"/>
          <p:cNvSpPr/>
          <p:nvPr/>
        </p:nvSpPr>
        <p:spPr>
          <a:xfrm>
            <a:off x="6080760" y="2697480"/>
            <a:ext cx="2468880" cy="1143000"/>
          </a:xfrm>
          <a:prstGeom prst="rect">
            <a:avLst/>
          </a:prstGeom>
          <a:solidFill>
            <a:srgbClr val="FFFFFF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6263640" y="2971800"/>
            <a:ext cx="228600" cy="228600"/>
          </a:xfrm>
          <a:prstGeom prst="ellipse">
            <a:avLst/>
          </a:prstGeom>
          <a:solidFill>
            <a:srgbClr val="C9A84C"/>
          </a:solidFill>
          <a:ln/>
        </p:spPr>
      </p:sp>
      <p:sp>
        <p:nvSpPr>
          <p:cNvPr id="27" name="Text 25"/>
          <p:cNvSpPr/>
          <p:nvPr/>
        </p:nvSpPr>
        <p:spPr>
          <a:xfrm>
            <a:off x="6583680" y="28803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0D1E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Commission Earned</a:t>
            </a:r>
            <a:endParaRPr lang="en-US" sz="1200" dirty="0"/>
          </a:p>
        </p:txBody>
      </p:sp>
      <p:sp>
        <p:nvSpPr>
          <p:cNvPr id="28" name="Text 26"/>
          <p:cNvSpPr/>
          <p:nvPr/>
        </p:nvSpPr>
        <p:spPr>
          <a:xfrm>
            <a:off x="6583680" y="3200400"/>
            <a:ext cx="18288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When funding completes</a:t>
            </a:r>
            <a:endParaRPr lang="en-US" sz="90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00" dirty="0">
                <a:solidFill>
                  <a:srgbClr val="47556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and commission is calculated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8229600" y="475488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5A70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 / 10</a:t>
            </a:r>
            <a:endParaRPr lang="en-US" sz="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D1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274320"/>
            <a:ext cx="73152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Referral Status Guide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48640" y="777240"/>
            <a:ext cx="7315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Understanding your deal pipeline stages</a:t>
            </a:r>
            <a:endParaRPr lang="en-US" sz="1300" dirty="0"/>
          </a:p>
        </p:txBody>
      </p:sp>
      <p:sp>
        <p:nvSpPr>
          <p:cNvPr id="4" name="Shape 2"/>
          <p:cNvSpPr/>
          <p:nvPr/>
        </p:nvSpPr>
        <p:spPr>
          <a:xfrm>
            <a:off x="594360" y="1280160"/>
            <a:ext cx="2468880" cy="1143000"/>
          </a:xfrm>
          <a:prstGeom prst="rect">
            <a:avLst/>
          </a:prstGeom>
          <a:solidFill>
            <a:srgbClr val="162D54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Shape 3"/>
          <p:cNvSpPr/>
          <p:nvPr/>
        </p:nvSpPr>
        <p:spPr>
          <a:xfrm>
            <a:off x="594360" y="1280160"/>
            <a:ext cx="54864" cy="1143000"/>
          </a:xfrm>
          <a:prstGeom prst="rect">
            <a:avLst/>
          </a:prstGeom>
          <a:solidFill>
            <a:srgbClr val="2563EB"/>
          </a:solidFill>
          <a:ln/>
        </p:spPr>
      </p:sp>
      <p:sp>
        <p:nvSpPr>
          <p:cNvPr id="6" name="Text 4"/>
          <p:cNvSpPr/>
          <p:nvPr/>
        </p:nvSpPr>
        <p:spPr>
          <a:xfrm>
            <a:off x="777240" y="141732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Sent Out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777240" y="178308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sent to client,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awaiting their response</a:t>
            </a:r>
            <a:endParaRPr lang="en-US" sz="950" dirty="0"/>
          </a:p>
        </p:txBody>
      </p:sp>
      <p:sp>
        <p:nvSpPr>
          <p:cNvPr id="8" name="Shape 6"/>
          <p:cNvSpPr/>
          <p:nvPr/>
        </p:nvSpPr>
        <p:spPr>
          <a:xfrm>
            <a:off x="3337560" y="1280160"/>
            <a:ext cx="2468880" cy="1143000"/>
          </a:xfrm>
          <a:prstGeom prst="rect">
            <a:avLst/>
          </a:prstGeom>
          <a:solidFill>
            <a:srgbClr val="162D54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9" name="Shape 7"/>
          <p:cNvSpPr/>
          <p:nvPr/>
        </p:nvSpPr>
        <p:spPr>
          <a:xfrm>
            <a:off x="3337560" y="1280160"/>
            <a:ext cx="54864" cy="1143000"/>
          </a:xfrm>
          <a:prstGeom prst="rect">
            <a:avLst/>
          </a:prstGeom>
          <a:solidFill>
            <a:srgbClr val="0D9488"/>
          </a:solidFill>
          <a:ln/>
        </p:spPr>
      </p:sp>
      <p:sp>
        <p:nvSpPr>
          <p:cNvPr id="10" name="Text 8"/>
          <p:cNvSpPr/>
          <p:nvPr/>
        </p:nvSpPr>
        <p:spPr>
          <a:xfrm>
            <a:off x="3520440" y="141732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Applied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3520440" y="178308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Client has submitted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application</a:t>
            </a:r>
            <a:endParaRPr lang="en-US" sz="950" dirty="0"/>
          </a:p>
        </p:txBody>
      </p:sp>
      <p:sp>
        <p:nvSpPr>
          <p:cNvPr id="12" name="Shape 10"/>
          <p:cNvSpPr/>
          <p:nvPr/>
        </p:nvSpPr>
        <p:spPr>
          <a:xfrm>
            <a:off x="6080760" y="1280160"/>
            <a:ext cx="2468880" cy="1143000"/>
          </a:xfrm>
          <a:prstGeom prst="rect">
            <a:avLst/>
          </a:prstGeom>
          <a:solidFill>
            <a:srgbClr val="162D54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1"/>
          <p:cNvSpPr/>
          <p:nvPr/>
        </p:nvSpPr>
        <p:spPr>
          <a:xfrm>
            <a:off x="6080760" y="1280160"/>
            <a:ext cx="54864" cy="1143000"/>
          </a:xfrm>
          <a:prstGeom prst="rect">
            <a:avLst/>
          </a:prstGeom>
          <a:solidFill>
            <a:srgbClr val="F59E0B"/>
          </a:solidFill>
          <a:ln/>
        </p:spPr>
      </p:sp>
      <p:sp>
        <p:nvSpPr>
          <p:cNvPr id="14" name="Text 12"/>
          <p:cNvSpPr/>
          <p:nvPr/>
        </p:nvSpPr>
        <p:spPr>
          <a:xfrm>
            <a:off x="6263640" y="141732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Progress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6263640" y="178308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Application is being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reviewed and processed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594360" y="2697480"/>
            <a:ext cx="2468880" cy="1143000"/>
          </a:xfrm>
          <a:prstGeom prst="rect">
            <a:avLst/>
          </a:prstGeom>
          <a:solidFill>
            <a:srgbClr val="162D54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594360" y="2697480"/>
            <a:ext cx="54864" cy="1143000"/>
          </a:xfrm>
          <a:prstGeom prst="rect">
            <a:avLst/>
          </a:prstGeom>
          <a:solidFill>
            <a:srgbClr val="EF4444"/>
          </a:solidFill>
          <a:ln/>
        </p:spPr>
      </p:sp>
      <p:sp>
        <p:nvSpPr>
          <p:cNvPr id="18" name="Text 16"/>
          <p:cNvSpPr/>
          <p:nvPr/>
        </p:nvSpPr>
        <p:spPr>
          <a:xfrm>
            <a:off x="777240" y="283464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Needs Action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777240" y="320040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Something requires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attention</a:t>
            </a:r>
            <a:endParaRPr lang="en-US" sz="950" dirty="0"/>
          </a:p>
        </p:txBody>
      </p:sp>
      <p:sp>
        <p:nvSpPr>
          <p:cNvPr id="20" name="Shape 18"/>
          <p:cNvSpPr/>
          <p:nvPr/>
        </p:nvSpPr>
        <p:spPr>
          <a:xfrm>
            <a:off x="3337560" y="2697480"/>
            <a:ext cx="2468880" cy="1143000"/>
          </a:xfrm>
          <a:prstGeom prst="rect">
            <a:avLst/>
          </a:prstGeom>
          <a:solidFill>
            <a:srgbClr val="162D54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1" name="Shape 19"/>
          <p:cNvSpPr/>
          <p:nvPr/>
        </p:nvSpPr>
        <p:spPr>
          <a:xfrm>
            <a:off x="3337560" y="2697480"/>
            <a:ext cx="54864" cy="1143000"/>
          </a:xfrm>
          <a:prstGeom prst="rect">
            <a:avLst/>
          </a:prstGeom>
          <a:solidFill>
            <a:srgbClr val="22C55E"/>
          </a:solidFill>
          <a:ln/>
        </p:spPr>
      </p:sp>
      <p:sp>
        <p:nvSpPr>
          <p:cNvPr id="22" name="Text 20"/>
          <p:cNvSpPr/>
          <p:nvPr/>
        </p:nvSpPr>
        <p:spPr>
          <a:xfrm>
            <a:off x="3520440" y="283464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Funded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3520440" y="320040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Deal successfully funded —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commission earned!</a:t>
            </a:r>
            <a:endParaRPr lang="en-US" sz="950" dirty="0"/>
          </a:p>
        </p:txBody>
      </p:sp>
      <p:sp>
        <p:nvSpPr>
          <p:cNvPr id="24" name="Shape 22"/>
          <p:cNvSpPr/>
          <p:nvPr/>
        </p:nvSpPr>
        <p:spPr>
          <a:xfrm>
            <a:off x="6080760" y="2697480"/>
            <a:ext cx="2468880" cy="1143000"/>
          </a:xfrm>
          <a:prstGeom prst="rect">
            <a:avLst/>
          </a:prstGeom>
          <a:solidFill>
            <a:srgbClr val="162D54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25" name="Shape 23"/>
          <p:cNvSpPr/>
          <p:nvPr/>
        </p:nvSpPr>
        <p:spPr>
          <a:xfrm>
            <a:off x="6080760" y="2697480"/>
            <a:ext cx="54864" cy="1143000"/>
          </a:xfrm>
          <a:prstGeom prst="rect">
            <a:avLst/>
          </a:prstGeom>
          <a:solidFill>
            <a:srgbClr val="475569"/>
          </a:solidFill>
          <a:ln/>
        </p:spPr>
      </p:sp>
      <p:sp>
        <p:nvSpPr>
          <p:cNvPr id="26" name="Text 24"/>
          <p:cNvSpPr/>
          <p:nvPr/>
        </p:nvSpPr>
        <p:spPr>
          <a:xfrm>
            <a:off x="6263640" y="2834640"/>
            <a:ext cx="2148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Archived</a:t>
            </a:r>
            <a:endParaRPr lang="en-US" sz="1400" dirty="0"/>
          </a:p>
        </p:txBody>
      </p:sp>
      <p:sp>
        <p:nvSpPr>
          <p:cNvPr id="27" name="Text 25"/>
          <p:cNvSpPr/>
          <p:nvPr/>
        </p:nvSpPr>
        <p:spPr>
          <a:xfrm>
            <a:off x="6263640" y="3200400"/>
            <a:ext cx="21488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Completed or inactive</a:t>
            </a:r>
            <a:endParaRPr lang="en-US" sz="950" dirty="0"/>
          </a:p>
          <a:p>
            <a:pPr indent="0" marL="0">
              <a:lnSpc>
                <a:spcPct val="130000"/>
              </a:lnSpc>
              <a:buNone/>
            </a:pPr>
            <a:r>
              <a:rPr lang="en-US" sz="95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referral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29" name="Text 27"/>
          <p:cNvSpPr/>
          <p:nvPr/>
        </p:nvSpPr>
        <p:spPr>
          <a:xfrm>
            <a:off x="8229600" y="475488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 / 10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D1E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-914400" y="3200400"/>
            <a:ext cx="3657600" cy="3657600"/>
          </a:xfrm>
          <a:prstGeom prst="ellipse">
            <a:avLst/>
          </a:prstGeom>
          <a:solidFill>
            <a:srgbClr val="C9A84C">
              <a:alpha val="7000"/>
            </a:srgbClr>
          </a:solidFill>
          <a:ln/>
        </p:spPr>
      </p:sp>
      <p:sp>
        <p:nvSpPr>
          <p:cNvPr id="3" name="Shape 1"/>
          <p:cNvSpPr/>
          <p:nvPr/>
        </p:nvSpPr>
        <p:spPr>
          <a:xfrm>
            <a:off x="6858000" y="-914400"/>
            <a:ext cx="3657600" cy="3657600"/>
          </a:xfrm>
          <a:prstGeom prst="ellipse">
            <a:avLst/>
          </a:prstGeom>
          <a:solidFill>
            <a:srgbClr val="C9A84C">
              <a:alpha val="7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548640" y="731520"/>
            <a:ext cx="80467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b="1" spc="600" kern="0" dirty="0">
                <a:solidFill>
                  <a:srgbClr val="C9A84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Alliance Financing Group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1280160"/>
            <a:ext cx="80467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We're Here to Help</a:t>
            </a:r>
            <a:endParaRPr lang="en-US" sz="3200" dirty="0"/>
          </a:p>
        </p:txBody>
      </p:sp>
      <p:sp>
        <p:nvSpPr>
          <p:cNvPr id="6" name="Shape 4"/>
          <p:cNvSpPr/>
          <p:nvPr/>
        </p:nvSpPr>
        <p:spPr>
          <a:xfrm>
            <a:off x="3931920" y="2011680"/>
            <a:ext cx="1280160" cy="36576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7" name="Shape 5"/>
          <p:cNvSpPr/>
          <p:nvPr/>
        </p:nvSpPr>
        <p:spPr>
          <a:xfrm>
            <a:off x="822960" y="2468880"/>
            <a:ext cx="2286000" cy="1188720"/>
          </a:xfrm>
          <a:prstGeom prst="rect">
            <a:avLst/>
          </a:prstGeom>
          <a:solidFill>
            <a:srgbClr val="162D54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1760220" y="2606040"/>
            <a:ext cx="411480" cy="411480"/>
          </a:xfrm>
          <a:prstGeom prst="ellipse">
            <a:avLst/>
          </a:prstGeom>
          <a:solidFill>
            <a:srgbClr val="C9A84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63090" y="2708910"/>
            <a:ext cx="205740" cy="205740"/>
          </a:xfrm>
          <a:prstGeom prst="rect">
            <a:avLst/>
          </a:prstGeom>
        </p:spPr>
      </p:pic>
      <p:sp>
        <p:nvSpPr>
          <p:cNvPr id="10" name="Text 7"/>
          <p:cNvSpPr/>
          <p:nvPr/>
        </p:nvSpPr>
        <p:spPr>
          <a:xfrm>
            <a:off x="822960" y="310896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Phone</a:t>
            </a:r>
            <a:endParaRPr lang="en-US" sz="1000" dirty="0"/>
          </a:p>
        </p:txBody>
      </p:sp>
      <p:sp>
        <p:nvSpPr>
          <p:cNvPr id="11" name="Text 8"/>
          <p:cNvSpPr/>
          <p:nvPr/>
        </p:nvSpPr>
        <p:spPr>
          <a:xfrm>
            <a:off x="868680" y="3310128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1-877-660-3660 ext. 222</a:t>
            </a:r>
            <a:endParaRPr lang="en-US" sz="1000" dirty="0"/>
          </a:p>
        </p:txBody>
      </p:sp>
      <p:sp>
        <p:nvSpPr>
          <p:cNvPr id="12" name="Shape 9"/>
          <p:cNvSpPr/>
          <p:nvPr/>
        </p:nvSpPr>
        <p:spPr>
          <a:xfrm>
            <a:off x="3429000" y="2468880"/>
            <a:ext cx="2286000" cy="1188720"/>
          </a:xfrm>
          <a:prstGeom prst="rect">
            <a:avLst/>
          </a:prstGeom>
          <a:solidFill>
            <a:srgbClr val="162D54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Shape 10"/>
          <p:cNvSpPr/>
          <p:nvPr/>
        </p:nvSpPr>
        <p:spPr>
          <a:xfrm>
            <a:off x="4366260" y="2606040"/>
            <a:ext cx="411480" cy="411480"/>
          </a:xfrm>
          <a:prstGeom prst="ellipse">
            <a:avLst/>
          </a:prstGeom>
          <a:solidFill>
            <a:srgbClr val="C9A84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pic>
        <p:nvPicPr>
          <p:cNvPr id="14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469130" y="2708910"/>
            <a:ext cx="205740" cy="205740"/>
          </a:xfrm>
          <a:prstGeom prst="rect">
            <a:avLst/>
          </a:prstGeom>
        </p:spPr>
      </p:pic>
      <p:sp>
        <p:nvSpPr>
          <p:cNvPr id="15" name="Text 11"/>
          <p:cNvSpPr/>
          <p:nvPr/>
        </p:nvSpPr>
        <p:spPr>
          <a:xfrm>
            <a:off x="3429000" y="310896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Email</a:t>
            </a:r>
            <a:endParaRPr lang="en-US" sz="1000" dirty="0"/>
          </a:p>
        </p:txBody>
      </p:sp>
      <p:sp>
        <p:nvSpPr>
          <p:cNvPr id="16" name="Text 12"/>
          <p:cNvSpPr/>
          <p:nvPr/>
        </p:nvSpPr>
        <p:spPr>
          <a:xfrm>
            <a:off x="3474720" y="3310128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info@alliancefinancing.com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6035040" y="2468880"/>
            <a:ext cx="2286000" cy="1188720"/>
          </a:xfrm>
          <a:prstGeom prst="rect">
            <a:avLst/>
          </a:prstGeom>
          <a:solidFill>
            <a:srgbClr val="162D54"/>
          </a:solidFill>
          <a:ln/>
          <a:effectLst>
            <a:outerShdw sx="100000" sy="100000" kx="0" ky="0" algn="bl" rotWithShape="0" blurRad="76200" dist="25400" dir="8100000">
              <a:srgbClr val="000000">
                <a:alpha val="12000"/>
              </a:srgbClr>
            </a:outerShdw>
          </a:effectLst>
        </p:spPr>
      </p:sp>
      <p:sp>
        <p:nvSpPr>
          <p:cNvPr id="18" name="Shape 14"/>
          <p:cNvSpPr/>
          <p:nvPr/>
        </p:nvSpPr>
        <p:spPr>
          <a:xfrm>
            <a:off x="6972300" y="2606040"/>
            <a:ext cx="411480" cy="411480"/>
          </a:xfrm>
          <a:prstGeom prst="ellipse">
            <a:avLst/>
          </a:prstGeom>
          <a:solidFill>
            <a:srgbClr val="C9A84C"/>
          </a:solidFill>
          <a:ln/>
          <a:effectLst>
            <a:outerShdw sx="100000" sy="100000" kx="0" ky="0" algn="bl" rotWithShape="0" blurRad="50800" dist="25400" dir="8100000">
              <a:srgbClr val="000000">
                <a:alpha val="10000"/>
              </a:srgbClr>
            </a:outerShdw>
          </a:effectLst>
        </p:spPr>
      </p:sp>
      <p:pic>
        <p:nvPicPr>
          <p:cNvPr id="19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75170" y="2708910"/>
            <a:ext cx="205740" cy="20574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035040" y="310896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Dashboard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6080760" y="3310128"/>
            <a:ext cx="219456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alliancefinancing.ai/dashboard</a:t>
            </a:r>
            <a:endParaRPr lang="en-US" sz="1000" dirty="0"/>
          </a:p>
        </p:txBody>
      </p:sp>
      <p:sp>
        <p:nvSpPr>
          <p:cNvPr id="22" name="Text 17"/>
          <p:cNvSpPr/>
          <p:nvPr/>
        </p:nvSpPr>
        <p:spPr>
          <a:xfrm>
            <a:off x="548640" y="3977640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i="1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Thank you for being a valued Referral Partner!</a:t>
            </a:r>
            <a:endParaRPr lang="en-US" sz="1600" dirty="0"/>
          </a:p>
        </p:txBody>
      </p:sp>
      <p:sp>
        <p:nvSpPr>
          <p:cNvPr id="23" name="Text 18"/>
          <p:cNvSpPr/>
          <p:nvPr/>
        </p:nvSpPr>
        <p:spPr>
          <a:xfrm>
            <a:off x="548640" y="4434840"/>
            <a:ext cx="804672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lnSpc>
                <a:spcPct val="140000"/>
              </a:lnSpc>
              <a:buNone/>
            </a:pPr>
            <a:r>
              <a:rPr lang="en-US" sz="700" dirty="0">
                <a:solidFill>
                  <a:srgbClr val="5A70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Property of Alliance Financing Group Ltd. All rights reserved. Confidential — authorized referral partners only.</a:t>
            </a:r>
            <a:endParaRPr lang="en-US" sz="700" dirty="0"/>
          </a:p>
          <a:p>
            <a:pPr algn="ctr" indent="0" marL="0">
              <a:lnSpc>
                <a:spcPct val="140000"/>
              </a:lnSpc>
              <a:buNone/>
            </a:pPr>
            <a:r>
              <a:rPr lang="en-US" sz="700" dirty="0">
                <a:solidFill>
                  <a:srgbClr val="5A7099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Unauthorized reproduction or distribution is prohibited.</a:t>
            </a:r>
            <a:endParaRPr lang="en-US" sz="700" dirty="0"/>
          </a:p>
        </p:txBody>
      </p:sp>
      <p:sp>
        <p:nvSpPr>
          <p:cNvPr id="24" name="Shape 19"/>
          <p:cNvSpPr/>
          <p:nvPr/>
        </p:nvSpPr>
        <p:spPr>
          <a:xfrm>
            <a:off x="0" y="5029200"/>
            <a:ext cx="9144000" cy="114300"/>
          </a:xfrm>
          <a:prstGeom prst="rect">
            <a:avLst/>
          </a:prstGeom>
          <a:solidFill>
            <a:srgbClr val="C9A84C"/>
          </a:solidFill>
          <a:ln/>
        </p:spPr>
      </p:sp>
      <p:sp>
        <p:nvSpPr>
          <p:cNvPr id="25" name="Text 20"/>
          <p:cNvSpPr/>
          <p:nvPr/>
        </p:nvSpPr>
        <p:spPr>
          <a:xfrm>
            <a:off x="8229600" y="475488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94A3B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 / 10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Referral Partner Dashboard Overview</dc:title>
  <dc:subject>PptxGenJS Presentation</dc:subject>
  <dc:creator>Alliance Financing Group</dc:creator>
  <cp:lastModifiedBy>Alliance Financing Group</cp:lastModifiedBy>
  <cp:revision>1</cp:revision>
  <dcterms:created xsi:type="dcterms:W3CDTF">2026-04-01T10:46:10Z</dcterms:created>
  <dcterms:modified xsi:type="dcterms:W3CDTF">2026-04-01T10:46:10Z</dcterms:modified>
</cp:coreProperties>
</file>