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A3160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914400"/>
            <a:ext cx="73152" cy="2194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Solutions for Every Business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114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1989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4617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4114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70+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60320" y="4617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4114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63440" y="4617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Experience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66560" y="4114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766560" y="4617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Programs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49440" y="1828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Headquartered in Toronto, Canada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20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" y="7772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Alliance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Group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19202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in 1989, Alliance is a leading independent commercial finance company headquartered in Toronto, Canada, serving clients in over 70 countries.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3474720" cy="3886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754880"/>
            <a:ext cx="34747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Toronto, Canada  •  Est. 1989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49040" y="365760"/>
            <a:ext cx="2423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49040" y="365760"/>
            <a:ext cx="24231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548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Reach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86200" y="9601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Providing funding solutions in 70+ countries through global fund partnerships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55080" y="365760"/>
            <a:ext cx="2423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55080" y="365760"/>
            <a:ext cx="24231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548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Solutions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9601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financing packages matched precisely to your requirements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49040" y="2606040"/>
            <a:ext cx="2423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49040" y="2606040"/>
            <a:ext cx="24231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6200" y="2788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Excellence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86200" y="32004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for flexibility, service excellence and financial innovation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55080" y="2606040"/>
            <a:ext cx="2423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2606040"/>
            <a:ext cx="24231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2788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 Funding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32004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unmatched funding capabilities through a global network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PRODUCTS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Solutions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64008" cy="1828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Leasing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$2,500 – $50,000,000+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6479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from 24–84 months for most types of equipment and machinery across all industries.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60120"/>
            <a:ext cx="64008" cy="1828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 Loans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463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$100,000 – $1,150,000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176479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land, buildings, equipment, leaseholds, intangible assets &amp; working capital. Includes Line of Credit up to $150,000.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971800"/>
            <a:ext cx="64008" cy="1828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08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Loans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474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$250,000 – $2,000,000+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77647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3–12 month terms providing working capital to bridge cash flow gaps or facilitate long-term financing transitions.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97180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971800"/>
            <a:ext cx="64008" cy="1828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108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Refinance Loans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3474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$500,000 – $30,000,000+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377647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by equipment and/or real estate. Terms 6 months–3 years. Up to 20-year amortization for real estate.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PRODUCTS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64008" cy="1508760"/>
          </a:xfrm>
          <a:prstGeom prst="rect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698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Partner Programs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finance services for mortgage brokers, agents and industry professionals. Offer Alliance's full product suite as a value-add — on a completely outsourced basis.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60120"/>
            <a:ext cx="64008" cy="1508760"/>
          </a:xfrm>
          <a:prstGeom prst="rect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698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Leasing Programs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44475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programs for equipment manufacturers/vendors. Private-labeled and co-branded e-finance tools. Hundreds of active vendor programs across Canada.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65176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651760"/>
            <a:ext cx="64008" cy="1508760"/>
          </a:xfrm>
          <a:prstGeom prst="rect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614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/ Corporate Finance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13639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Asset-based loans, revolving credit, factoring &amp; term loans. Complete financial restructurings for companies requiring working capital for expansion or re-financing.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65176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651760"/>
            <a:ext cx="64008" cy="1508760"/>
          </a:xfrm>
          <a:prstGeom prst="rect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7614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Centre &amp; Technology Financing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13639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financing for data centre infrastructure, GPU-as-a-Service, managed services, servers, storage and networking — structured to match technology refresh cycles.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4370832"/>
            <a:ext cx="8595360" cy="658368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4370832"/>
            <a:ext cx="64008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437083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SR&amp;ED &amp; Grant Financing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520440" y="4498848"/>
            <a:ext cx="0" cy="402336"/>
          </a:xfrm>
          <a:prstGeom prst="line">
            <a:avLst/>
          </a:prstGeom>
          <a:noFill/>
          <a:ln w="12700">
            <a:solidFill>
              <a:srgbClr val="2A4F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437083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SR&amp;ED tax credits and government grants through non-dilutive financing — access capital tied up in receivables before CRA refund arrives. Ideal for innovation-driven companies seeking to fund R&amp;D without giving up equity.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1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LENDING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 world of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with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financial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credit to finance international and domestic purchases — so you never miss an opportunity to grow your business.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3611880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35661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Unsecured finance line — repayment up to 150 days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858768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381304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payments in 140+ currencies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105656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405993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upfront fees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352544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30682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Finance Specialist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599432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45537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transparent online trading platform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4572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Import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Lending?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126480" y="1463040"/>
            <a:ext cx="2743200" cy="530352"/>
          </a:xfrm>
          <a:prstGeom prst="rect">
            <a:avLst/>
          </a:prstGeom>
          <a:solidFill>
            <a:srgbClr val="1E3A6E"/>
          </a:solidFill>
          <a:ln w="12700">
            <a:solidFill>
              <a:srgbClr val="2A4F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463040"/>
            <a:ext cx="45720" cy="5303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46304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cash flow gaps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2121408"/>
            <a:ext cx="2743200" cy="530352"/>
          </a:xfrm>
          <a:prstGeom prst="rect">
            <a:avLst/>
          </a:prstGeom>
          <a:solidFill>
            <a:srgbClr val="1E3A6E"/>
          </a:solidFill>
          <a:ln w="12700">
            <a:solidFill>
              <a:srgbClr val="2A4F8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2121408"/>
            <a:ext cx="45720" cy="5303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212140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finance portfolio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2779776"/>
            <a:ext cx="2743200" cy="530352"/>
          </a:xfrm>
          <a:prstGeom prst="rect">
            <a:avLst/>
          </a:prstGeom>
          <a:solidFill>
            <a:srgbClr val="1E3A6E"/>
          </a:solidFill>
          <a:ln w="12700">
            <a:solidFill>
              <a:srgbClr val="2A4F8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2779776"/>
            <a:ext cx="45720" cy="5303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2779776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FX risk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3438144"/>
            <a:ext cx="2743200" cy="530352"/>
          </a:xfrm>
          <a:prstGeom prst="rect">
            <a:avLst/>
          </a:prstGeom>
          <a:solidFill>
            <a:srgbClr val="1E3A6E"/>
          </a:solidFill>
          <a:ln w="12700">
            <a:solidFill>
              <a:srgbClr val="2A4F8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3438144"/>
            <a:ext cx="45720" cy="5303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343814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&amp; secure payments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4096512"/>
            <a:ext cx="2743200" cy="530352"/>
          </a:xfrm>
          <a:prstGeom prst="rect">
            <a:avLst/>
          </a:prstGeom>
          <a:solidFill>
            <a:srgbClr val="1E3A6E"/>
          </a:solidFill>
          <a:ln w="12700">
            <a:solidFill>
              <a:srgbClr val="2A4F8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4096512"/>
            <a:ext cx="45720" cy="5303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409651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credit facilities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ASSET-BASED FINANCING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financial solutions are designed to match industry and end-user life cycles — maximizing flexibility and ROI.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743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2743200" cy="502920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17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Structures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075688"/>
            <a:ext cx="91440" cy="91440"/>
          </a:xfrm>
          <a:prstGeom prst="ellipse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Leases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606040"/>
            <a:ext cx="91440" cy="91440"/>
          </a:xfrm>
          <a:prstGeom prst="ellipse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42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Sales Agreements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136392"/>
            <a:ext cx="91440" cy="91440"/>
          </a:xfrm>
          <a:prstGeom prst="ellipse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0723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Leases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666744"/>
            <a:ext cx="91440" cy="91440"/>
          </a:xfrm>
          <a:prstGeom prst="ellipse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60273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Lease Credit Lines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4197096"/>
            <a:ext cx="91440" cy="91440"/>
          </a:xfrm>
          <a:prstGeom prst="ellipse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133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HaaS / SaaS Financing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1417320"/>
            <a:ext cx="2743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1417320"/>
            <a:ext cx="2743200" cy="502920"/>
          </a:xfrm>
          <a:prstGeom prst="rect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1417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Benefits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37560" y="2075688"/>
            <a:ext cx="91440" cy="91440"/>
          </a:xfrm>
          <a:prstGeom prst="ellipse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assets at the right time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37560" y="2606040"/>
            <a:ext cx="91440" cy="91440"/>
          </a:xfrm>
          <a:prstGeom prst="ellipse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2542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payments to asset lifecycle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37560" y="3136392"/>
            <a:ext cx="91440" cy="91440"/>
          </a:xfrm>
          <a:prstGeom prst="ellipse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30723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in flexibility vs. bank financing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37560" y="3666744"/>
            <a:ext cx="91440" cy="91440"/>
          </a:xfrm>
          <a:prstGeom prst="ellipse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0440" y="360273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knowledge across all industries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37560" y="4197096"/>
            <a:ext cx="91440" cy="91440"/>
          </a:xfrm>
          <a:prstGeom prst="ellipse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0440" y="4133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ROI on every asset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1417320"/>
            <a:ext cx="2743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1417320"/>
            <a:ext cx="2743200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1417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Incentives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63640" y="2075688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tax credits &amp; grants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63640" y="2606040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2542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Non-dilutive financing structures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63640" y="3136392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30723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SR&amp;ED program alignment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63640" y="3666744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46520" y="360273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energy financing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63640" y="4197096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46520" y="4133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Development Canada links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LEASE?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out of 10 organizations choose to lease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8328" y="1024128"/>
            <a:ext cx="457200" cy="347472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0241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" y="146304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Your Budget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" y="1874520"/>
            <a:ext cx="1810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monthly payments replace unpredictable capital expenses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23160" y="91440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32888" y="1024128"/>
            <a:ext cx="457200" cy="347472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32888" y="10241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32888" y="146304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Your Cash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32888" y="1874520"/>
            <a:ext cx="1810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capital for core business activities and strategic investments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17720" y="91440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27448" y="1024128"/>
            <a:ext cx="457200" cy="347472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27448" y="10241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27448" y="146304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Efficiently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27448" y="1874520"/>
            <a:ext cx="1810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have the latest technology without carrying old assets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12280" y="91440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22008" y="1024128"/>
            <a:ext cx="457200" cy="347472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22008" y="10241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22008" y="146304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Bottom Line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22008" y="1874520"/>
            <a:ext cx="1810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tax advantages through lease payment deductions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292608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8328" y="3035808"/>
            <a:ext cx="457200" cy="347472"/>
          </a:xfrm>
          <a:prstGeom prst="rect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" y="30358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" y="347472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Compliant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8328" y="3886200"/>
            <a:ext cx="1810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Environmentally compliant disposal of retired equipment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23160" y="292608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32888" y="3035808"/>
            <a:ext cx="457200" cy="347472"/>
          </a:xfrm>
          <a:prstGeom prst="rect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32888" y="30358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532888" y="347472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Your Refresh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532888" y="3886200"/>
            <a:ext cx="1810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refresh cycles keep your technology current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17720" y="292608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27448" y="3035808"/>
            <a:ext cx="457200" cy="347472"/>
          </a:xfrm>
          <a:prstGeom prst="rect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27448" y="30358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27448" y="347472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Offload Disposal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27448" y="3886200"/>
            <a:ext cx="1810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End-of-lease asset management handles all logistics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812280" y="292608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922008" y="3035808"/>
            <a:ext cx="457200" cy="347472"/>
          </a:xfrm>
          <a:prstGeom prst="rect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22008" y="30358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22008" y="347472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Your Mind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922008" y="3886200"/>
            <a:ext cx="1810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end-of-term options: buy, return, extend or upgrade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Alliance Vendor Program gives you a powerful sales tool to help close customers and maximize business opportunities.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41605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4160520" cy="457200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Tools &amp; Support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96596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and non-branded documentation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432304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43230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documentation &amp; sample credit application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8986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89864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cards &amp; promotions designed for your company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36499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36499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marketing support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831336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383133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protection notification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429768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429768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in 70 countries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1417320"/>
            <a:ext cx="41605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417320"/>
            <a:ext cx="4160520" cy="457200"/>
          </a:xfrm>
          <a:prstGeom prst="rect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4173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Capabilities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196596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20640" y="196596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Financings between $2,500 and $50,000,000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2432304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20640" y="243230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for A, B, C and D credit profiles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28986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20640" y="289864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MUSH Programs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36499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20640" y="336499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ratio up to 90%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3831336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20640" y="383133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up to $250,000 within hours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429768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20640" y="429768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for new or used equipment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YOUR PROGRAM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Clients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77724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 Managed Service Agreement Financing   ★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52728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52728"/>
            <a:ext cx="2743200" cy="502920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527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Types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" y="1892808"/>
            <a:ext cx="91440" cy="91440"/>
          </a:xfrm>
          <a:prstGeom prst="ellipse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8470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 Agreement Financing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" y="2377440"/>
            <a:ext cx="91440" cy="91440"/>
          </a:xfrm>
          <a:prstGeom prst="ellipse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3317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Leases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2862072"/>
            <a:ext cx="91440" cy="91440"/>
          </a:xfrm>
          <a:prstGeom prst="ellipse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81635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Sales Agreements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" y="3346704"/>
            <a:ext cx="91440" cy="91440"/>
          </a:xfrm>
          <a:prstGeom prst="ellipse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30098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Leases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" y="3831336"/>
            <a:ext cx="91440" cy="91440"/>
          </a:xfrm>
          <a:prstGeom prst="ellipse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78561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Lease – Credit Lines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" y="4315968"/>
            <a:ext cx="91440" cy="91440"/>
          </a:xfrm>
          <a:prstGeom prst="ellipse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427024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HaaS / SaaS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1252728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1252728"/>
            <a:ext cx="2743200" cy="502920"/>
          </a:xfrm>
          <a:prstGeom prst="rect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12527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Terms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364992" y="1892808"/>
            <a:ext cx="91440" cy="91440"/>
          </a:xfrm>
          <a:prstGeom prst="ellipse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47872" y="18470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Terms: 1–7 Years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64992" y="2377440"/>
            <a:ext cx="91440" cy="91440"/>
          </a:xfrm>
          <a:prstGeom prst="ellipse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47872" y="23317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/ Quarterly / Annual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64992" y="2862072"/>
            <a:ext cx="91440" cy="91440"/>
          </a:xfrm>
          <a:prstGeom prst="ellipse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47872" y="281635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or Arrears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64992" y="3346704"/>
            <a:ext cx="91440" cy="91440"/>
          </a:xfrm>
          <a:prstGeom prst="ellipse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47872" y="330098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Programs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64992" y="3831336"/>
            <a:ext cx="91440" cy="91440"/>
          </a:xfrm>
          <a:prstGeom prst="ellipse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47872" y="378561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Step-Up / Step-Down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364992" y="4315968"/>
            <a:ext cx="91440" cy="91440"/>
          </a:xfrm>
          <a:prstGeom prst="ellipse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47872" y="427024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Deferral Programs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26480" y="1252728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26480" y="1252728"/>
            <a:ext cx="2743200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12527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Term Options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291072" y="1892808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73952" y="18470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Market Value (FMV)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91072" y="2377440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3952" y="23317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/ Stretch Options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91072" y="2862072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73952" y="281635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Equipment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291072" y="3346704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73952" y="330098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Out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291072" y="3831336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73952" y="378561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Lease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291072" y="4315968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73952" y="427024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1A3160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Alliance will provide a comprehensive analysis and plan based on discussions with senior management — tailored to your situation.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Track Cycle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463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143000"/>
            <a:ext cx="457200" cy="457200"/>
          </a:xfrm>
          <a:prstGeom prst="ellipse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Credit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line established and ready to use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74520" y="2331720"/>
            <a:ext cx="2286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48840" y="1005840"/>
            <a:ext cx="1463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51760" y="1143000"/>
            <a:ext cx="457200" cy="457200"/>
          </a:xfrm>
          <a:prstGeom prst="ellipse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40280" y="17373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40280" y="26060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orders with any vendor using your credit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0" y="2331720"/>
            <a:ext cx="2286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31920" y="1005840"/>
            <a:ext cx="1463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34840" y="1143000"/>
            <a:ext cx="457200" cy="457200"/>
          </a:xfrm>
          <a:prstGeom prst="ellipse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023360" y="17373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23360" y="26060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team reviews all invoices against PO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40680" y="2331720"/>
            <a:ext cx="2286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15000" y="1005840"/>
            <a:ext cx="1463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1143000"/>
            <a:ext cx="457200" cy="457200"/>
          </a:xfrm>
          <a:prstGeom prst="ellipse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806440" y="17373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06440" y="26060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purchases consolidated on a single schedule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23760" y="2331720"/>
            <a:ext cx="2286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0" y="1005840"/>
            <a:ext cx="1463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01000" y="1143000"/>
            <a:ext cx="457200" cy="457200"/>
          </a:xfrm>
          <a:prstGeom prst="ellipse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010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589520" y="17373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Ends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Repeats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589520" y="26060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installation period begins automatically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069080"/>
            <a:ext cx="8595360" cy="822960"/>
          </a:xfrm>
          <a:prstGeom prst="rect">
            <a:avLst/>
          </a:prstGeom>
          <a:solidFill>
            <a:srgbClr val="1A3160"/>
          </a:solidFill>
          <a:ln w="12700">
            <a:solidFill>
              <a:srgbClr val="1A31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4069080"/>
            <a:ext cx="73152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114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Lease Signed Once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44622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paperwork  •  Open line of credit  •  Quick vendor payment  •  Single lease schedule for all equipment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FINANCE TEAM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at your leasing company should complement your own purchasing, finance and IT teams.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19659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0100" y="1600200"/>
            <a:ext cx="914400" cy="914400"/>
          </a:xfrm>
          <a:prstGeom prst="ellipse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010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20040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orders, manages vendor relationships, and serves as your primary point of contact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41448" y="1417320"/>
            <a:ext cx="19659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67228" y="1600200"/>
            <a:ext cx="914400" cy="914400"/>
          </a:xfrm>
          <a:prstGeom prst="ellipse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67228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32888" y="2651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Specialist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32888" y="320040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all billing processes and ensures accurate, timely invoicing for your account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08576" y="1417320"/>
            <a:ext cx="19659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34356" y="1600200"/>
            <a:ext cx="914400" cy="914400"/>
          </a:xfrm>
          <a:prstGeom prst="ellipse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34356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00016" y="2651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Administrator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0016" y="320040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all documentation, works within your budget and ensures contract compliance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75704" y="1417320"/>
            <a:ext cx="19659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01484" y="1600200"/>
            <a:ext cx="914400" cy="914400"/>
          </a:xfrm>
          <a:prstGeom prst="ellipse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01484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67144" y="2651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Manager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67144" y="320040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end-of-lease returns, asset disposal, data sanitization and recycling logistics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663440"/>
            <a:ext cx="84124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we stand out.  Our customer support is in-house and with you every step of the way.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&amp; TRANSPARENT CONTRACTS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657600" cy="3931920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3657600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Alliance Financing Group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160020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Lease signed once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167128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216712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installation periods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73405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73405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paperwork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300984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" y="330098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line of credit — order what you need, when you need 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867912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" y="386791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turnaround for order placement and vendor payment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06240" y="2331720"/>
            <a:ext cx="731520" cy="7315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120640" y="960120"/>
            <a:ext cx="3657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20640" y="960120"/>
            <a:ext cx="3657600" cy="502920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9601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Leasing Companies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57800" y="160020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59552" y="160020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contract required each purchase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57800" y="2167128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59552" y="216712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Per-order processing delays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57800" y="273405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59552" y="273405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documentation burden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7800" y="3300984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59552" y="330098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approval required per order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57800" y="3867912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59552" y="386791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vendor payment timelines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3160"/>
          </a:solidFill>
          <a:ln w="12700">
            <a:solidFill>
              <a:srgbClr val="1A31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Get Started?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your Alliance Financing team today: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5852160" cy="1188720"/>
          </a:xfrm>
          <a:prstGeom prst="rect">
            <a:avLst/>
          </a:prstGeom>
          <a:solidFill>
            <a:srgbClr val="1A3160"/>
          </a:solidFill>
          <a:ln w="12700">
            <a:solidFill>
              <a:srgbClr val="2A4F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057400"/>
            <a:ext cx="64008" cy="1188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12140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Harrison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" y="24871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 289-388-8399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276148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lee@allianceglobaladvisors.com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852160" cy="1188720"/>
          </a:xfrm>
          <a:prstGeom prst="rect">
            <a:avLst/>
          </a:prstGeom>
          <a:solidFill>
            <a:srgbClr val="1A3160"/>
          </a:solidFill>
          <a:ln w="12700">
            <a:solidFill>
              <a:srgbClr val="2A4F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429000"/>
            <a:ext cx="64008" cy="1188720"/>
          </a:xfrm>
          <a:prstGeom prst="rect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49300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Bernie Shimkovitz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" y="38587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O: 905-660-3660 ext 225   •   M: 416-569-2899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413308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Bernie@alliancefinancing.com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13716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ALLIANCE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040880" y="3108960"/>
            <a:ext cx="146304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alliancefinancing.com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2940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905-660-3660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Toronto, Canada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Alliance Financing Group Overview</dc:title>
  <dc:subject>PptxGenJS Presentation</dc:subject>
  <dc:creator>PptxGenJS</dc:creator>
  <cp:lastModifiedBy>PptxGenJS</cp:lastModifiedBy>
  <cp:revision>1</cp:revision>
  <dcterms:created xsi:type="dcterms:W3CDTF">2026-02-18T12:18:30Z</dcterms:created>
  <dcterms:modified xsi:type="dcterms:W3CDTF">2026-02-18T12:18:30Z</dcterms:modified>
</cp:coreProperties>
</file>